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72" r:id="rId5"/>
    <p:sldId id="260" r:id="rId6"/>
    <p:sldId id="261" r:id="rId7"/>
    <p:sldId id="262" r:id="rId8"/>
    <p:sldId id="263" r:id="rId9"/>
    <p:sldId id="264" r:id="rId10"/>
    <p:sldId id="265" r:id="rId11"/>
    <p:sldId id="266" r:id="rId12"/>
    <p:sldId id="267" r:id="rId13"/>
    <p:sldId id="268" r:id="rId14"/>
    <p:sldId id="269" r:id="rId15"/>
    <p:sldId id="270" r:id="rId16"/>
    <p:sldId id="273" r:id="rId17"/>
    <p:sldId id="271"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20"/>
    <p:restoredTop sz="94610"/>
  </p:normalViewPr>
  <p:slideViewPr>
    <p:cSldViewPr snapToGrid="0" snapToObjects="1">
      <p:cViewPr varScale="1">
        <p:scale>
          <a:sx n="125" d="100"/>
          <a:sy n="125" d="100"/>
        </p:scale>
        <p:origin x="168"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0222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PageBook is an experiment: a Soroban contract that stores, matches, and settles limit orders on-chain. It runs on testnet today with a web client and a set of bots. It is not production software and nothing about its economics or interface is final.
The talk is thirty minutes. The shape is: a demo, why the obvious designs fail on Soroban, what we gave up, the three data structures that make it work, and what testnet measured. Slides and links are on the site afterwards.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client. Point at the book: best bid and ask, depth per side, recent trades, the vault and fee balances at the bottom. The wallet is a disposable testnet key funded by friendbot. The market maker bot keeps both sides quoted.
Rest a quote a tick inside the spread. Take it from the other side. Settle the maker order and watch the balance come back. Then open the take on stellar.expert and scroll to the footprint: around twenty read-write entries, and most of them are Level keys at ticks nobody quoted. That band is the padding. Keep this picture in mind. The rest of the talk explains every line of it.
Fallback if RPC misbehaves: the screen recording on the laptop.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Stellar already has an order book in the protocol. The problem is the boundary: a Soroban contract cannot place an SDEX offer or route a payment through it, and SDEX cannot invoke a contract. Any DeFi that wants an order book as a building block needs one on the Soroban side.
Being a contract buys things SDEX cannot offer: contracts can be makers and takers, a route across markets is atomic, a market operator can charge a taker fee, and time-in-force flags exist. The cost is real: a PageBook market is separate liquidity, and nothing inside a contract can bridge it to SDEX.
The other motive is that an order book is close to the worst case for Soroban's storage model. If it fits, most things fit. Much of what we learned is feedback for the platform.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vocabulary, stated once so the rest of the talk can use it. Two sides. Each side is a set of price levels. Each level is a queue in arrival order. A maker rests at the tail of a level; a taker starts at the best level on the opposite side and consumes from the head outward.
The repo pins the words. Entry points are what you call: place, replace, settle, route. Behaviors are what a call did: take, rest, sweep. "Fill" is only ever an order state. This matters because the same word meaning two things caused real confusion in review.
On every chain the hard part is the same: finding the next live level while other people are adding and removing orders at the same time.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thing anyone tries is to copy SDEX: one entry per offer, an offer id as the key, match by walking offers in price-time order. On the classic protocol that works because the protocol reads whatever it needs at apply time.
Soroban demands the read-write set before execution. The set of offers a take will cross is a function of the queue at apply time, and the queue changes with every rest and cancel by anyone else. Simulation tells you the keys as of now. By inclusion they can be wrong, and the host fails the transaction on an undeclared access. The busier the market, the more often this happens, and you cannot over-declare because you do not know the ids of offers that do not exist yet.
The same thing kills Deepstate's radix tree, which is the most inventive EVM design we looked at: its keys are derived from content, so any concurrent write renames the keys on the path. The lesson from every working on-chain CLOB is that book state must live at addresses that are pure functions of market, side, and price.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opposite extreme: put the whole book in one entry. The footprint is one key, always known, and there is no race to declare. This is roughly what Phoenix does on Solana, and it works there because rewriting part of a large account costs the same as rewriting a small one.</a:t>
            </a:r>
          </a:p>
          <a:p>
            <a:endParaRPr lang="en-US"/>
          </a:p>
          <a:p>
            <a:r>
              <a:rPr lang="en-US"/>
              <a:t>Soroban meters write bytes, and it charges every byte of every entry you rewrite. A one-lot take changes a handful of bytes but pays for the whole blob. Write bytes are also the scarce shared resource: the network admits 286,720 bytes of writes per ledger, about 132 KB per transaction, and a 40 KB book would let seven trades through per ledger for the whole network. The 64 KB entry cap bounds the book on top of that.</a:t>
            </a:r>
          </a:p>
          <a:p>
            <a:endParaRPr lang="en-US"/>
          </a:p>
          <a:p>
            <a:r>
              <a:rPr lang="en-US"/>
              <a:t>One thing the monolith does not lose against PageBook: parallelism. Every PageBook operation that settles funds writes the vault's balance entry for the token, so a whole market, and every market sharing a token, is one serial cluster in v1 too. The lesson here is only about write bytes: small entries at predictable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PageBook does not reproduce SDEX. It accepts four concessions, and each one buys something.
Quantization: every price is a whole number of ticks, every size a whole number of lots. Matching becomes one multiplication with nothing to round. Every traditional venue quantizes both price and size; SDEX's rational prices are the unusual case. What we actually concede is that the grid is frozen at market creation, and a market whose price moves an order of magnitude needs a new market. That comes back at the end.
Async settlement: crediting makers during a take would put every maker's balance entry into the taker's footprint, which is the whole-book race again. So the taker settles at apply and makers claim later with one cheap transaction.
Stale best: the walk starts from the best seen at simulation, so a better quote that lands in the two ledgers before inclusion is invisible to that take. Padding: the client declares more keys than simulation returned. That is unusual on Soroban, and the network charges for it, but it is cheap in fees and it is what makes the race survivable.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principles run through the whole design. First, every key is a pure function of things the client already knows: market, side, tick, or the maker's own address and a nonce it picked. Nothing assigned during execution ever appears in a key the client has to declare. Second, entries are small and sized to what they hold, so the write bytes a transaction pays track the work it did.
Book state is split by function into three structures. The tick index finds price levels that may have supply. The level queue stores the FIFO at one price in one entry. The order record is the maker's claim on a queue position. The taker walk touches the first two and never the third. Settle touches the third and one level.
One more rule: the order store, meaning levels and order records, is authoritative and never stale. The index is derived, holds no funds, and is allowed to be wrong in one direction: a live level always has its bit set, but a set bit may point at an empty level. An error there costs a wasted step, never a wrong settlement.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market side has a two-level bitmap: a 2,048-bit summary over 2,048-bit words, which covers four million ticks. Each bitmap is a 256-byte entry. A tick number splits into a word index and a bit index, so the key for any tick's word is known in advance. BestTick is a hint for where to start.
Finding the next candidate tick is a find-first-set on the current word, then on the summary, without scanning prices.
The index is derived. A live level must have its bit set; a set bit may point at a level that emptied through cancels. The taker that lands on that level finds it empty, clears the bit, and moves on, spending one of its crossing slots. Keeping the index exact would put bitmap writes into every settle, and settle is the one path we most want to keep tiny.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whole FIFO at one price lives in one entry: a generation counter, a head sequence number, the open total, and a vector of quantity slots. Sequence numbers are slot positions. A rest pushes onto the end. A take decrements the head slot in place and advances the head. A cancel zeroes its slot. Nothing is ever moved or compacted.The entry is sized to occupancy: 124 bytes empty, 12 more per resting order, about 900 bytes at the default cap of 64 orders. A swept level is written empty, so the hot-path writes are small.A taker that consumes the whole level prices it from the open total, writes the entry empty, and bumps the generation. It never reads the slots. Sweeping a level with sixty makers costs one write, the same as sweeping one. And because the queue lives under the key the transaction already declared, a queue that deepens in flight changes nothing about the footprint. Level entries are never deleted; the generation counter must survive so old makers can still settle.</a:t>
            </a:r>
          </a:p>
          <a:p>
            <a:endParaRPr lang="en-US"/>
          </a:p>
          <a:p>
            <a:r>
              <a:rPr lang="en-US"/>
              <a:t>A cancel leaves its slot in place at zero, a tombstone, because later makers' sequence numbers point at positions and their records cannot be rewritten. The walk skips tombstones. The level cap of 64 counts the slots ahead of the head, live or tombstoned; a sweep or a rest into an empty level starts a new generation and clears them. The current contract also keeps filled history behind the head until then, which is issue 66: co-located makers refreshing one tick can fill it with tombstones. The fix drops the consumed prefix behind the head, which the slide describes.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queue stores quantities only. Who owns them lives in a separate record per order, keyed by the maker's address and a nonce the maker chose before simulation. That is what makes the key declarable no matter what the book does in flight. The queue position, generation and sequence, is assigned at execution and stored inside the entry, where it cannot affect any footprint.
At settle, the contract compares the record's generation and sequence with the level's counters. An older generation, or a sequence behind the head, is fully filled. At the head, possibly partially filled, so read that one slot. Ahead of the head, still open. It pays the filled part, refunds the open part, and deletes the record. Constant work regardless of how many other makers are in the queue.
The record is fixed-size, so replace can rewrite it in place without paying rent again. Rent is the dominant per-order cost, about 0.046 XLM for the 120-day minimum, so this is what makes market making affordable.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from the explainer: asks of 20 lots at 15,800 and 30 lots at 15,805, and a bid for 35 lots. The index says start at 15,800. That level has fewer lots than the taker wants, so it is swept whole by its counters for 31.60 USDC: one write, slots unread, generation bumped, bit cleared. The index's next set bit is 15,805. Fifteen lots come off the head of that queue for 23.7075 USDC, and the walk stops there. No maker record was touched.
Every loop is bounded by a constant. A walk crosses at most 32 levels and reads at most a level's cap of slots when it partially consumes one. Hitting a cap is not an error: progress is kept and the rest is refunded, or rests, depending on flags. The single hard failure is the walk needing a level past the padded band, which fails on the footprint. That residual is real, and we say so.
Quote amounts are lots times tick times tick size, in checked 128-bit integers, so there is nothing to round in matching. The taker fee rounds up and the dust goes to the fee accrual.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client's half of the protocol. Simulate to learn where the walk starts and what it expects to cross. Then pad: declare every level key in a contiguous band from the simulated best out to a chosen end, set or not, plus the bitmap words that span it, the keys a rest on the own side would touch, the order record at the chosen nonce, the vault's balance in both tokens, the caller's own balances, and both fee accruals. That list is exhaustive; a place touches nothing else. Then submit.
What can happen at apply: the book moved inside the band, which is fine, the walk reads what is there. A cap was hit, remainder refunded. A rest raced onto a full level, typed error. Only a walk that needs a level beyond the band fails on the footprint. The client chooses band width against trap probability.
Padding is not free on Soroban: a declared read-write key pays the write-entry fee whether touched or not, and an existing one is charged its bytes as if written. It is cheap in fees, and it does consume ledger capacity. Testnet has the whole stack running: contract, web client, bots on a Docker host, and the permissionless cranks for fee collection and keepalive.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landed transactions on the testnet XLM/USDC market, the median of thirty samples per shape, except the maximum take, which was constructed against a 32-level ladder. Read down the fee column: quoting costs about a hundredth of an XLM, and the heaviest transaction the contract allows costs under four hundredths.
The design's central promise shows up as three flat rows: rest, replace, and settle have no variance, because they never walk. Takes scale with levels crossed, twice over: each real level adds keys to what is written, and the band adds one key per tick to what is declared.
Against the limits: the 32-level take uses 18.7 million of a 400 million instruction budget and 38.6 of 132 KB of write bytes. Nothing per transaction is tight. Per ledger, write bytes bind: a deep take reserves a quarter of a ledger. We tested that directly with eight accounts firing near-cap batches at 2.6 times oversubscription. The chain admitted three per ledger at 97.4 percent of write bytes, with write entries at 57 percent and instructions at 55 percent. The excess queued and then hit surge pricing. Small transactions kept landing in the gaps.
If the network raises one thing for this workload, it is ledger write bytes. The other lever is ours: declared bytes run about 1.7 times metered on the heavy shapes, because the pad covers every band level at full size. An existence-aware pad gets five batches per ledger instead of three.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concession that bites is the frozen grid. A linear tick is a fixed quote amount, so it is a different fraction of price at every price. On the example market the tick is 0.6 basis points at today's price. If XLM fell to two cents it would be 5 basis points and a maker could not ladder inside the spread. If XLM rose to 1.58 it would be 0.06 basis points, and padding one percent of depth would need 1,580 level keys, eight times the writes a transaction may hold. The only remedy today is a new market and a migration of resting liquidity.
A geometric grid, as in the Liquidity Book, makes relative tick width constant, but its prices are not whole atoms, so matching would have to round, and the rounding lands inside the maker's claim. That trades away the property the whole correctness argument rests on.
A significant-figure grid, which is what Hyperliquid and every traditional tick table do, keeps prices as whole atoms, needs no band, and holds relative width within a fixed window. The 1-2-5 table variant that MiFID venues use keeps round prices too. If a v2 market type is built, that is the better candidate. None of this changes existing markets; quantization is frozen per market.
Other v2 items: per-market vault sub-accounts so markets sharing a token stop forming one serial cluster, batched settle, and permissionless market creation with an anti-spam fee.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The explainer is the short version of the design, the architecture document is the full specification, and the decisions folder in the repo records every place where reality corrected the plan.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hyperlink" Target="https://tomerweller.com/pagebook/"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hyperlink" Target="https://tomerweller.com/pagebook/talk/" TargetMode="External"/><Relationship Id="rId3" Type="http://schemas.openxmlformats.org/officeDocument/2006/relationships/hyperlink" Target="https://tomerweller.com/pagebook/" TargetMode="External"/><Relationship Id="rId7" Type="http://schemas.openxmlformats.org/officeDocument/2006/relationships/hyperlink" Target="https://github.com/tomerweller/pagebook/blob/main/docs/09-resource-utilization.md"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hyperlink" Target="https://github.com/tomerweller/pagebook/blob/main/docs/04-architecture.md" TargetMode="External"/><Relationship Id="rId5" Type="http://schemas.openxmlformats.org/officeDocument/2006/relationships/hyperlink" Target="https://github.com/tomerweller/pagebook" TargetMode="External"/><Relationship Id="rId4" Type="http://schemas.openxmlformats.org/officeDocument/2006/relationships/hyperlink" Target="https://tomerweller.com/pagebook/explainer/"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613"/>
        </a:solidFill>
        <a:effectLst/>
      </p:bgPr>
    </p:bg>
    <p:spTree>
      <p:nvGrpSpPr>
        <p:cNvPr id="1" name=""/>
        <p:cNvGrpSpPr/>
        <p:nvPr/>
      </p:nvGrpSpPr>
      <p:grpSpPr>
        <a:xfrm>
          <a:off x="0" y="0"/>
          <a:ext cx="0" cy="0"/>
          <a:chOff x="0" y="0"/>
          <a:chExt cx="0" cy="0"/>
        </a:xfrm>
      </p:grpSpPr>
      <p:sp>
        <p:nvSpPr>
          <p:cNvPr id="2" name="Text 0"/>
          <p:cNvSpPr txBox="1"/>
          <p:nvPr/>
        </p:nvSpPr>
        <p:spPr>
          <a:xfrm>
            <a:off x="640080" y="2377440"/>
            <a:ext cx="10911535" cy="1097280"/>
          </a:xfrm>
          <a:prstGeom prst="rect">
            <a:avLst/>
          </a:prstGeom>
          <a:noFill/>
          <a:ln/>
        </p:spPr>
        <p:txBody>
          <a:bodyPr wrap="square" lIns="0" tIns="0" rIns="0" bIns="0" rtlCol="0" anchor="ctr"/>
          <a:lstStyle/>
          <a:p>
            <a:pPr marL="0" indent="0">
              <a:buNone/>
            </a:pPr>
            <a:r>
              <a:rPr lang="en-US" sz="6000" b="1" dirty="0">
                <a:solidFill>
                  <a:srgbClr val="E7E3D8"/>
                </a:solidFill>
                <a:latin typeface="Cambria" pitchFamily="34" charset="0"/>
                <a:ea typeface="Cambria" pitchFamily="34" charset="-122"/>
                <a:cs typeface="Cambria" pitchFamily="34" charset="-120"/>
              </a:rPr>
              <a:t>PageBook</a:t>
            </a:r>
            <a:endParaRPr lang="en-US" sz="6000" dirty="0"/>
          </a:p>
        </p:txBody>
      </p:sp>
      <p:sp>
        <p:nvSpPr>
          <p:cNvPr id="3" name="Text 1"/>
          <p:cNvSpPr txBox="1"/>
          <p:nvPr/>
        </p:nvSpPr>
        <p:spPr>
          <a:xfrm>
            <a:off x="640080" y="3520440"/>
            <a:ext cx="10911535" cy="731520"/>
          </a:xfrm>
          <a:prstGeom prst="rect">
            <a:avLst/>
          </a:prstGeom>
          <a:noFill/>
          <a:ln/>
        </p:spPr>
        <p:txBody>
          <a:bodyPr wrap="square" lIns="0" tIns="0" rIns="0" bIns="0" rtlCol="0" anchor="ctr"/>
          <a:lstStyle/>
          <a:p>
            <a:pPr marL="0" indent="0">
              <a:buNone/>
            </a:pPr>
            <a:r>
              <a:rPr lang="en-US" sz="2800" dirty="0">
                <a:solidFill>
                  <a:srgbClr val="9C978A"/>
                </a:solidFill>
                <a:latin typeface="Calibri" pitchFamily="34" charset="0"/>
                <a:ea typeface="Calibri" pitchFamily="34" charset="-122"/>
                <a:cs typeface="Calibri" pitchFamily="34" charset="-120"/>
              </a:rPr>
              <a:t>A ”good enough” order book for Soroban</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71613"/>
        </a:solidFill>
        <a:effectLst/>
      </p:bgPr>
    </p:bg>
    <p:spTree>
      <p:nvGrpSpPr>
        <p:cNvPr id="1" name=""/>
        <p:cNvGrpSpPr/>
        <p:nvPr/>
      </p:nvGrpSpPr>
      <p:grpSpPr>
        <a:xfrm>
          <a:off x="0" y="0"/>
          <a:ext cx="0" cy="0"/>
          <a:chOff x="0" y="0"/>
          <a:chExt cx="0" cy="0"/>
        </a:xfrm>
      </p:grpSpPr>
      <p:sp>
        <p:nvSpPr>
          <p:cNvPr id="2" name="Text 0"/>
          <p:cNvSpPr txBox="1"/>
          <p:nvPr/>
        </p:nvSpPr>
        <p:spPr>
          <a:xfrm>
            <a:off x="640080" y="566928"/>
            <a:ext cx="10911535" cy="731520"/>
          </a:xfrm>
          <a:prstGeom prst="rect">
            <a:avLst/>
          </a:prstGeom>
          <a:noFill/>
          <a:ln/>
        </p:spPr>
        <p:txBody>
          <a:bodyPr wrap="square" lIns="0" tIns="0" rIns="0" bIns="0" rtlCol="0" anchor="t"/>
          <a:lstStyle/>
          <a:p>
            <a:pPr marL="0" indent="0">
              <a:buNone/>
            </a:pPr>
            <a:r>
              <a:rPr lang="en-US" sz="3400" b="1" dirty="0">
                <a:solidFill>
                  <a:srgbClr val="E7E3D8"/>
                </a:solidFill>
                <a:latin typeface="Cambria" pitchFamily="34" charset="0"/>
                <a:ea typeface="Cambria" pitchFamily="34" charset="-122"/>
                <a:cs typeface="Cambria" pitchFamily="34" charset="-120"/>
              </a:rPr>
              <a:t>Demo</a:t>
            </a:r>
            <a:endParaRPr lang="en-US" sz="3400" dirty="0"/>
          </a:p>
        </p:txBody>
      </p:sp>
      <p:pic>
        <p:nvPicPr>
          <p:cNvPr id="3" name="Image 0" descr="client.png"/>
          <p:cNvPicPr>
            <a:picLocks noChangeAspect="1"/>
          </p:cNvPicPr>
          <p:nvPr/>
        </p:nvPicPr>
        <p:blipFill>
          <a:blip r:embed="rId3"/>
          <a:stretch>
            <a:fillRect/>
          </a:stretch>
        </p:blipFill>
        <p:spPr>
          <a:xfrm>
            <a:off x="2438248" y="1463040"/>
            <a:ext cx="7315200" cy="4572000"/>
          </a:xfrm>
          <a:prstGeom prst="rect">
            <a:avLst/>
          </a:prstGeom>
        </p:spPr>
      </p:pic>
      <p:sp>
        <p:nvSpPr>
          <p:cNvPr id="4" name="Text 1">
            <a:hlinkClick r:id="rId4"/>
          </p:cNvPr>
          <p:cNvSpPr txBox="1"/>
          <p:nvPr/>
        </p:nvSpPr>
        <p:spPr>
          <a:xfrm>
            <a:off x="640080" y="6172200"/>
            <a:ext cx="10911535" cy="365760"/>
          </a:xfrm>
          <a:prstGeom prst="rect">
            <a:avLst/>
          </a:prstGeom>
          <a:noFill/>
          <a:ln/>
        </p:spPr>
        <p:txBody>
          <a:bodyPr wrap="square" lIns="0" tIns="0" rIns="0" bIns="0" rtlCol="0" anchor="ctr"/>
          <a:lstStyle/>
          <a:p>
            <a:pPr marL="0" indent="0" algn="ctr">
              <a:buNone/>
            </a:pPr>
            <a:r>
              <a:rPr lang="en-US" sz="1600" u="sng" dirty="0">
                <a:solidFill>
                  <a:srgbClr val="7EA9E0"/>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tomerweller.com/pagebook</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71613"/>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828800" cy="274320"/>
          </a:xfrm>
          <a:prstGeom prst="rect">
            <a:avLst/>
          </a:prstGeom>
          <a:noFill/>
          <a:ln/>
        </p:spPr>
        <p:txBody>
          <a:bodyPr wrap="square" lIns="0" tIns="0" rIns="0" bIns="0" rtlCol="0" anchor="ctr"/>
          <a:lstStyle/>
          <a:p>
            <a:pPr marL="0" indent="0">
              <a:buNone/>
            </a:pPr>
            <a:r>
              <a:rPr lang="en-US" sz="1200" dirty="0">
                <a:solidFill>
                  <a:srgbClr val="9C978A"/>
                </a:solidFill>
                <a:latin typeface="Calibri" pitchFamily="34" charset="0"/>
                <a:ea typeface="Calibri" pitchFamily="34" charset="-122"/>
                <a:cs typeface="Calibri" pitchFamily="34" charset="-120"/>
              </a:rPr>
              <a:t>1</a:t>
            </a:r>
            <a:endParaRPr lang="en-US" sz="1200" dirty="0"/>
          </a:p>
        </p:txBody>
      </p:sp>
      <p:sp>
        <p:nvSpPr>
          <p:cNvPr id="3" name="Text 1"/>
          <p:cNvSpPr txBox="1"/>
          <p:nvPr/>
        </p:nvSpPr>
        <p:spPr>
          <a:xfrm>
            <a:off x="640080" y="704088"/>
            <a:ext cx="10911535" cy="731520"/>
          </a:xfrm>
          <a:prstGeom prst="rect">
            <a:avLst/>
          </a:prstGeom>
          <a:noFill/>
          <a:ln/>
        </p:spPr>
        <p:txBody>
          <a:bodyPr wrap="square" lIns="0" tIns="0" rIns="0" bIns="0" rtlCol="0" anchor="t"/>
          <a:lstStyle/>
          <a:p>
            <a:pPr marL="0" indent="0">
              <a:buNone/>
            </a:pPr>
            <a:r>
              <a:rPr lang="en-US" sz="3400" b="1" dirty="0">
                <a:solidFill>
                  <a:srgbClr val="E7E3D8"/>
                </a:solidFill>
                <a:latin typeface="Cambria" pitchFamily="34" charset="0"/>
              </a:rPr>
              <a:t>Why build a Soroban Orderbook</a:t>
            </a:r>
            <a:endParaRPr lang="en-US" sz="3400" dirty="0"/>
          </a:p>
        </p:txBody>
      </p:sp>
      <p:sp>
        <p:nvSpPr>
          <p:cNvPr id="4" name="Text 2"/>
          <p:cNvSpPr txBox="1"/>
          <p:nvPr/>
        </p:nvSpPr>
        <p:spPr>
          <a:xfrm>
            <a:off x="640080" y="1600200"/>
            <a:ext cx="9539935" cy="4526280"/>
          </a:xfrm>
          <a:prstGeom prst="rect">
            <a:avLst/>
          </a:prstGeom>
          <a:noFill/>
          <a:ln/>
        </p:spPr>
        <p:txBody>
          <a:bodyPr wrap="square" lIns="0" tIns="0" rIns="0" bIns="0" rtlCol="0" anchor="t"/>
          <a:lstStyle/>
          <a:p>
            <a:pPr>
              <a:spcAft>
                <a:spcPts val="1000"/>
              </a:spcAft>
              <a:buSzPct val="100000"/>
            </a:pPr>
            <a:r>
              <a:rPr lang="en-US" sz="2200" dirty="0">
                <a:solidFill>
                  <a:srgbClr val="E7E3D8"/>
                </a:solidFill>
                <a:latin typeface="Calibri" pitchFamily="34" charset="0"/>
                <a:ea typeface="Calibri" pitchFamily="34" charset="-122"/>
                <a:cs typeface="Calibri" pitchFamily="34" charset="-120"/>
              </a:rPr>
              <a:t>SDEX exists but, </a:t>
            </a:r>
          </a:p>
          <a:p>
            <a:pPr marL="228600" indent="-228600">
              <a:spcAft>
                <a:spcPts val="1000"/>
              </a:spcAft>
              <a:buSzPct val="100000"/>
              <a:buChar char="•"/>
            </a:pPr>
            <a:r>
              <a:rPr lang="en-US" sz="2200" dirty="0">
                <a:solidFill>
                  <a:srgbClr val="E7E3D8"/>
                </a:solidFill>
                <a:latin typeface="Calibri" pitchFamily="34" charset="0"/>
                <a:ea typeface="Calibri" pitchFamily="34" charset="-122"/>
                <a:cs typeface="Calibri" pitchFamily="34" charset="-120"/>
              </a:rPr>
              <a:t>contracts can't call SDEX and SDEX can't call contracts. </a:t>
            </a:r>
          </a:p>
          <a:p>
            <a:pPr marL="685800" lvl="1" indent="-228600">
              <a:spcAft>
                <a:spcPts val="1000"/>
              </a:spcAft>
              <a:buSzPct val="100000"/>
              <a:buChar char="•"/>
            </a:pPr>
            <a:r>
              <a:rPr lang="en-US" sz="2200" dirty="0">
                <a:solidFill>
                  <a:srgbClr val="E7E3D8"/>
                </a:solidFill>
                <a:latin typeface="Calibri" pitchFamily="34" charset="0"/>
                <a:ea typeface="Calibri" pitchFamily="34" charset="-122"/>
                <a:cs typeface="Calibri" pitchFamily="34" charset="-120"/>
              </a:rPr>
              <a:t>Example: contract tokens</a:t>
            </a:r>
            <a:endParaRPr lang="en-US" sz="2200" dirty="0"/>
          </a:p>
          <a:p>
            <a:pPr marL="228600" indent="-228600">
              <a:spcAft>
                <a:spcPts val="1000"/>
              </a:spcAft>
              <a:buSzPct val="100000"/>
              <a:buChar char="•"/>
            </a:pPr>
            <a:r>
              <a:rPr lang="en-US" sz="2200" dirty="0">
                <a:solidFill>
                  <a:srgbClr val="E7E3D8"/>
                </a:solidFill>
                <a:latin typeface="Calibri" pitchFamily="34" charset="0"/>
                <a:ea typeface="Calibri" pitchFamily="34" charset="-122"/>
                <a:cs typeface="Calibri" pitchFamily="34" charset="-120"/>
              </a:rPr>
              <a:t>No room for customization. </a:t>
            </a:r>
          </a:p>
          <a:p>
            <a:pPr marL="685800" lvl="1" indent="-228600">
              <a:spcAft>
                <a:spcPts val="1000"/>
              </a:spcAft>
              <a:buSzPct val="100000"/>
              <a:buChar char="•"/>
            </a:pPr>
            <a:r>
              <a:rPr lang="en-US" sz="2200" dirty="0">
                <a:solidFill>
                  <a:srgbClr val="E7E3D8"/>
                </a:solidFill>
                <a:latin typeface="Calibri" pitchFamily="34" charset="0"/>
                <a:ea typeface="Calibri" pitchFamily="34" charset="-122"/>
                <a:cs typeface="Calibri" pitchFamily="34" charset="-120"/>
              </a:rPr>
              <a:t>Example: taker fees, maker discounts</a:t>
            </a:r>
            <a:endParaRPr lang="en-US" sz="2200" dirty="0"/>
          </a:p>
          <a:p>
            <a:pPr marL="228600" indent="-228600">
              <a:spcAft>
                <a:spcPts val="1000"/>
              </a:spcAft>
              <a:buSzPct val="100000"/>
              <a:buChar char="•"/>
            </a:pPr>
            <a:r>
              <a:rPr lang="en-US" sz="2200" dirty="0">
                <a:solidFill>
                  <a:srgbClr val="E7E3D8"/>
                </a:solidFill>
                <a:latin typeface="Calibri" pitchFamily="34" charset="0"/>
                <a:ea typeface="Calibri" pitchFamily="34" charset="-122"/>
                <a:cs typeface="Calibri" pitchFamily="34" charset="-120"/>
              </a:rPr>
              <a:t>No proper metering</a:t>
            </a:r>
          </a:p>
          <a:p>
            <a:pPr marL="685800" lvl="1" indent="-228600">
              <a:spcAft>
                <a:spcPts val="1000"/>
              </a:spcAft>
              <a:buSzPct val="100000"/>
              <a:buChar char="•"/>
            </a:pPr>
            <a:r>
              <a:rPr lang="en-US" sz="2200" dirty="0">
                <a:solidFill>
                  <a:srgbClr val="E7E3D8"/>
                </a:solidFill>
                <a:latin typeface="Calibri" pitchFamily="34" charset="0"/>
                <a:ea typeface="Calibri" pitchFamily="34" charset="-122"/>
                <a:cs typeface="Calibri" pitchFamily="34" charset="-120"/>
              </a:rPr>
              <a:t>Example: an order that crosses 1 offer “costs” as much as an order that crosses 1000 offers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71613"/>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828800" cy="274320"/>
          </a:xfrm>
          <a:prstGeom prst="rect">
            <a:avLst/>
          </a:prstGeom>
          <a:noFill/>
          <a:ln/>
        </p:spPr>
        <p:txBody>
          <a:bodyPr wrap="square" lIns="0" tIns="0" rIns="0" bIns="0" rtlCol="0" anchor="ctr"/>
          <a:lstStyle/>
          <a:p>
            <a:pPr marL="0" indent="0">
              <a:buNone/>
            </a:pPr>
            <a:r>
              <a:rPr lang="en-US" sz="1200" dirty="0">
                <a:solidFill>
                  <a:srgbClr val="9C978A"/>
                </a:solidFill>
                <a:latin typeface="Calibri" pitchFamily="34" charset="0"/>
                <a:ea typeface="Calibri" pitchFamily="34" charset="-122"/>
                <a:cs typeface="Calibri" pitchFamily="34" charset="-120"/>
              </a:rPr>
              <a:t>2</a:t>
            </a:r>
            <a:endParaRPr lang="en-US" sz="1200" dirty="0"/>
          </a:p>
        </p:txBody>
      </p:sp>
      <p:sp>
        <p:nvSpPr>
          <p:cNvPr id="3" name="Text 1"/>
          <p:cNvSpPr txBox="1"/>
          <p:nvPr/>
        </p:nvSpPr>
        <p:spPr>
          <a:xfrm>
            <a:off x="640080" y="704088"/>
            <a:ext cx="10911535" cy="731520"/>
          </a:xfrm>
          <a:prstGeom prst="rect">
            <a:avLst/>
          </a:prstGeom>
          <a:noFill/>
          <a:ln/>
        </p:spPr>
        <p:txBody>
          <a:bodyPr wrap="square" lIns="0" tIns="0" rIns="0" bIns="0" rtlCol="0" anchor="t"/>
          <a:lstStyle/>
          <a:p>
            <a:pPr marL="0" indent="0">
              <a:buNone/>
            </a:pPr>
            <a:r>
              <a:rPr lang="en-US" sz="3400" b="1" dirty="0">
                <a:solidFill>
                  <a:srgbClr val="E7E3D8"/>
                </a:solidFill>
                <a:latin typeface="Cambria" pitchFamily="34" charset="0"/>
                <a:ea typeface="Cambria" pitchFamily="34" charset="-122"/>
                <a:cs typeface="Cambria" pitchFamily="34" charset="-120"/>
              </a:rPr>
              <a:t>Order book 101</a:t>
            </a:r>
            <a:endParaRPr lang="en-US" sz="3400" dirty="0"/>
          </a:p>
        </p:txBody>
      </p:sp>
      <p:sp>
        <p:nvSpPr>
          <p:cNvPr id="9" name="TextBox 8">
            <a:extLst>
              <a:ext uri="{FF2B5EF4-FFF2-40B4-BE49-F238E27FC236}">
                <a16:creationId xmlns:a16="http://schemas.microsoft.com/office/drawing/2014/main" id="{6A12485D-F804-1310-C453-E9C909737D8D}"/>
              </a:ext>
            </a:extLst>
          </p:cNvPr>
          <p:cNvSpPr txBox="1"/>
          <p:nvPr/>
        </p:nvSpPr>
        <p:spPr>
          <a:xfrm>
            <a:off x="635000" y="1523999"/>
            <a:ext cx="10922000" cy="2540000"/>
          </a:xfrm>
          <a:prstGeom prst="rect">
            <a:avLst/>
          </a:prstGeom>
          <a:noFill/>
        </p:spPr>
        <p:txBody>
          <a:bodyPr vert="horz" wrap="square" rtlCol="0">
            <a:spAutoFit/>
          </a:bodyPr>
          <a:lstStyle/>
          <a:p>
            <a:pPr marL="457200" indent="-457200">
              <a:spcAft>
                <a:spcPts val="1000"/>
              </a:spcAft>
              <a:buFont typeface="+mj-lt"/>
              <a:buChar char="•"/>
            </a:pPr>
            <a:r>
              <a:rPr lang="en-US" sz="2200" dirty="0">
                <a:solidFill>
                  <a:srgbClr val="E7E3D8"/>
                </a:solidFill>
                <a:latin typeface="Calibri" panose="020F0502020204030204" pitchFamily="34" charset="0"/>
              </a:rPr>
              <a:t>Limit order: buy or sell an amount at a price or better; rests until matched or cancelled</a:t>
            </a:r>
          </a:p>
          <a:p>
            <a:pPr marL="457200" indent="-457200">
              <a:spcAft>
                <a:spcPts val="1000"/>
              </a:spcAft>
              <a:buFont typeface="+mj-lt"/>
              <a:buChar char="•"/>
            </a:pPr>
            <a:r>
              <a:rPr lang="en-US" sz="2200" dirty="0">
                <a:solidFill>
                  <a:srgbClr val="E7E3D8"/>
                </a:solidFill>
                <a:latin typeface="Calibri" panose="020F0502020204030204" pitchFamily="34" charset="0"/>
              </a:rPr>
              <a:t>Two sides: bids to buy, asks to sell; the gap between the best of each is the spread</a:t>
            </a:r>
          </a:p>
          <a:p>
            <a:pPr marL="457200" indent="-457200">
              <a:spcAft>
                <a:spcPts val="1000"/>
              </a:spcAft>
              <a:buFont typeface="+mj-lt"/>
              <a:buChar char="•"/>
            </a:pPr>
            <a:r>
              <a:rPr lang="en-US" sz="2200" dirty="0">
                <a:solidFill>
                  <a:srgbClr val="E7E3D8"/>
                </a:solidFill>
                <a:latin typeface="Calibri" panose="020F0502020204030204" pitchFamily="34" charset="0"/>
              </a:rPr>
              <a:t>Price-time priority: best price first, then oldest order at that price</a:t>
            </a:r>
          </a:p>
          <a:p>
            <a:pPr marL="457200" indent="-457200">
              <a:spcAft>
                <a:spcPts val="1000"/>
              </a:spcAft>
              <a:buFont typeface="+mj-lt"/>
              <a:buChar char="•"/>
            </a:pPr>
            <a:r>
              <a:rPr lang="en-US" sz="2200" dirty="0">
                <a:solidFill>
                  <a:srgbClr val="E7E3D8"/>
                </a:solidFill>
                <a:latin typeface="Calibri" panose="020F0502020204030204" pitchFamily="34" charset="0"/>
              </a:rPr>
              <a:t>Makers rest orders; takers cross the spread and match against them</a:t>
            </a:r>
          </a:p>
        </p:txBody>
      </p:sp>
      <p:pic>
        <p:nvPicPr>
          <p:cNvPr id="11" name="Picture 10" descr="Order book">
            <a:extLst>
              <a:ext uri="{FF2B5EF4-FFF2-40B4-BE49-F238E27FC236}">
                <a16:creationId xmlns:a16="http://schemas.microsoft.com/office/drawing/2014/main" id="{DA7EB136-CE96-B159-D434-D44F8C480F76}"/>
              </a:ext>
            </a:extLst>
          </p:cNvPr>
          <p:cNvPicPr>
            <a:picLocks noChangeAspect="1"/>
          </p:cNvPicPr>
          <p:nvPr/>
        </p:nvPicPr>
        <p:blipFill>
          <a:blip r:embed="rId3"/>
          <a:stretch>
            <a:fillRect/>
          </a:stretch>
        </p:blipFill>
        <p:spPr>
          <a:xfrm>
            <a:off x="1996038" y="4415859"/>
            <a:ext cx="7772400" cy="2038063"/>
          </a:xfrm>
          <a:prstGeom prst="rect">
            <a:avLst/>
          </a:prstGeom>
        </p:spPr>
      </p:pic>
    </p:spTree>
    <p:extLst>
      <p:ext uri="{BB962C8B-B14F-4D97-AF65-F5344CB8AC3E}">
        <p14:creationId xmlns:p14="http://schemas.microsoft.com/office/powerpoint/2010/main" val="2500399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71613"/>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828800" cy="274320"/>
          </a:xfrm>
          <a:prstGeom prst="rect">
            <a:avLst/>
          </a:prstGeom>
          <a:noFill/>
          <a:ln/>
        </p:spPr>
        <p:txBody>
          <a:bodyPr wrap="square" lIns="0" tIns="0" rIns="0" bIns="0" rtlCol="0" anchor="ctr"/>
          <a:lstStyle/>
          <a:p>
            <a:pPr marL="0" indent="0">
              <a:buNone/>
            </a:pPr>
            <a:r>
              <a:rPr lang="en-US" sz="1200" dirty="0">
                <a:solidFill>
                  <a:srgbClr val="9C978A"/>
                </a:solidFill>
                <a:latin typeface="Calibri" pitchFamily="34" charset="0"/>
                <a:ea typeface="Calibri" pitchFamily="34" charset="-122"/>
                <a:cs typeface="Calibri" pitchFamily="34" charset="-120"/>
              </a:rPr>
              <a:t>3</a:t>
            </a:r>
            <a:endParaRPr lang="en-US" sz="1200" dirty="0"/>
          </a:p>
        </p:txBody>
      </p:sp>
      <p:sp>
        <p:nvSpPr>
          <p:cNvPr id="3" name="Text 1"/>
          <p:cNvSpPr txBox="1"/>
          <p:nvPr/>
        </p:nvSpPr>
        <p:spPr>
          <a:xfrm>
            <a:off x="640080" y="704088"/>
            <a:ext cx="10911535" cy="731520"/>
          </a:xfrm>
          <a:prstGeom prst="rect">
            <a:avLst/>
          </a:prstGeom>
          <a:noFill/>
          <a:ln/>
        </p:spPr>
        <p:txBody>
          <a:bodyPr wrap="square" lIns="0" tIns="0" rIns="0" bIns="0" rtlCol="0" anchor="t"/>
          <a:lstStyle/>
          <a:p>
            <a:pPr marL="0" indent="0">
              <a:buNone/>
            </a:pPr>
            <a:r>
              <a:rPr lang="en-US" sz="3400" b="1" dirty="0">
                <a:solidFill>
                  <a:srgbClr val="E7E3D8"/>
                </a:solidFill>
                <a:latin typeface="Cambria" pitchFamily="34" charset="0"/>
                <a:ea typeface="Cambria" pitchFamily="34" charset="-122"/>
                <a:cs typeface="Cambria" pitchFamily="34" charset="-120"/>
              </a:rPr>
              <a:t>Naive design one: SDEX-ish</a:t>
            </a:r>
            <a:endParaRPr lang="en-US" sz="3400" dirty="0"/>
          </a:p>
        </p:txBody>
      </p:sp>
      <p:sp>
        <p:nvSpPr>
          <p:cNvPr id="4" name="Text 2"/>
          <p:cNvSpPr txBox="1"/>
          <p:nvPr/>
        </p:nvSpPr>
        <p:spPr>
          <a:xfrm>
            <a:off x="640080" y="1600200"/>
            <a:ext cx="4937760" cy="452628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E7E3D8"/>
                </a:solidFill>
                <a:latin typeface="Calibri" pitchFamily="34" charset="0"/>
                <a:ea typeface="Calibri" pitchFamily="34" charset="-122"/>
                <a:cs typeface="Calibri" pitchFamily="34" charset="-120"/>
              </a:rPr>
              <a:t>One ledger entry per offer, keyed by offer id, like OfferEntry</a:t>
            </a:r>
            <a:endParaRPr lang="en-US" sz="1800" dirty="0"/>
          </a:p>
          <a:p>
            <a:pPr marL="228600" indent="-228600">
              <a:spcAft>
                <a:spcPts val="1000"/>
              </a:spcAft>
              <a:buSzPct val="100000"/>
              <a:buChar char="•"/>
            </a:pPr>
            <a:r>
              <a:rPr lang="en-US" sz="1800" i="1" dirty="0">
                <a:solidFill>
                  <a:srgbClr val="E7E3D8"/>
                </a:solidFill>
                <a:latin typeface="Calibri" pitchFamily="34" charset="0"/>
                <a:ea typeface="Calibri" pitchFamily="34" charset="-122"/>
                <a:cs typeface="Calibri" pitchFamily="34" charset="-120"/>
              </a:rPr>
              <a:t>Problem: Soroban needs the footprint before execution, but the offers a take crosses depend on the live queue</a:t>
            </a:r>
          </a:p>
          <a:p>
            <a:pPr marL="228600" indent="-228600">
              <a:spcAft>
                <a:spcPts val="1000"/>
              </a:spcAft>
              <a:buSzPct val="100000"/>
              <a:buChar char="•"/>
            </a:pPr>
            <a:r>
              <a:rPr lang="en-US" i="1" dirty="0">
                <a:solidFill>
                  <a:srgbClr val="E7E3D8"/>
                </a:solidFill>
                <a:latin typeface="Calibri" pitchFamily="34" charset="0"/>
                <a:cs typeface="Calibri" pitchFamily="34" charset="-120"/>
              </a:rPr>
              <a:t>Lesson: Predictable keys, Stable footprints</a:t>
            </a:r>
            <a:endParaRPr lang="en-US" sz="1800" i="1" dirty="0"/>
          </a:p>
        </p:txBody>
      </p:sp>
      <p:pic>
        <p:nvPicPr>
          <p:cNvPr id="5" name="Image 0" descr="fig/fig04.png"/>
          <p:cNvPicPr>
            <a:picLocks noChangeAspect="1"/>
          </p:cNvPicPr>
          <p:nvPr/>
        </p:nvPicPr>
        <p:blipFill>
          <a:blip r:embed="rId3"/>
          <a:stretch>
            <a:fillRect/>
          </a:stretch>
        </p:blipFill>
        <p:spPr>
          <a:xfrm>
            <a:off x="5943600" y="1600200"/>
            <a:ext cx="5608015" cy="325626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71613"/>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828800" cy="274320"/>
          </a:xfrm>
          <a:prstGeom prst="rect">
            <a:avLst/>
          </a:prstGeom>
          <a:noFill/>
          <a:ln/>
        </p:spPr>
        <p:txBody>
          <a:bodyPr wrap="square" lIns="0" tIns="0" rIns="0" bIns="0" rtlCol="0" anchor="ctr"/>
          <a:lstStyle/>
          <a:p>
            <a:pPr marL="0" indent="0">
              <a:buNone/>
            </a:pPr>
            <a:r>
              <a:rPr lang="en-US" sz="1200" dirty="0">
                <a:solidFill>
                  <a:srgbClr val="9C978A"/>
                </a:solidFill>
                <a:latin typeface="Calibri" pitchFamily="34" charset="0"/>
                <a:ea typeface="Calibri" pitchFamily="34" charset="-122"/>
                <a:cs typeface="Calibri" pitchFamily="34" charset="-120"/>
              </a:rPr>
              <a:t>4</a:t>
            </a:r>
            <a:endParaRPr lang="en-US" sz="1200" dirty="0"/>
          </a:p>
        </p:txBody>
      </p:sp>
      <p:sp>
        <p:nvSpPr>
          <p:cNvPr id="3" name="Text 1"/>
          <p:cNvSpPr txBox="1"/>
          <p:nvPr/>
        </p:nvSpPr>
        <p:spPr>
          <a:xfrm>
            <a:off x="640080" y="704088"/>
            <a:ext cx="10911535" cy="731520"/>
          </a:xfrm>
          <a:prstGeom prst="rect">
            <a:avLst/>
          </a:prstGeom>
          <a:noFill/>
          <a:ln/>
        </p:spPr>
        <p:txBody>
          <a:bodyPr wrap="square" lIns="0" tIns="0" rIns="0" bIns="0" rtlCol="0" anchor="t"/>
          <a:lstStyle/>
          <a:p>
            <a:pPr marL="0" indent="0">
              <a:buNone/>
            </a:pPr>
            <a:r>
              <a:rPr lang="en-US" sz="3400" b="1" dirty="0">
                <a:solidFill>
                  <a:srgbClr val="E7E3D8"/>
                </a:solidFill>
                <a:latin typeface="Cambria" pitchFamily="34" charset="0"/>
                <a:ea typeface="Cambria" pitchFamily="34" charset="-122"/>
                <a:cs typeface="Cambria" pitchFamily="34" charset="-120"/>
              </a:rPr>
              <a:t>Naive design two: the monolith</a:t>
            </a:r>
            <a:endParaRPr lang="en-US" sz="3400" dirty="0"/>
          </a:p>
        </p:txBody>
      </p:sp>
      <p:sp>
        <p:nvSpPr>
          <p:cNvPr id="4" name="Text 2"/>
          <p:cNvSpPr txBox="1"/>
          <p:nvPr/>
        </p:nvSpPr>
        <p:spPr>
          <a:xfrm>
            <a:off x="640080" y="1600200"/>
            <a:ext cx="4937760" cy="452628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E7E3D8"/>
                </a:solidFill>
                <a:latin typeface="Calibri" pitchFamily="34" charset="0"/>
                <a:ea typeface="Calibri" pitchFamily="34" charset="-122"/>
                <a:cs typeface="Calibri" pitchFamily="34" charset="-120"/>
              </a:rPr>
              <a:t>Whole book in one entry; the footprint is trivially predictable</a:t>
            </a:r>
            <a:endParaRPr lang="en-US" sz="1800" dirty="0"/>
          </a:p>
          <a:p>
            <a:pPr marL="228600" indent="-228600">
              <a:spcAft>
                <a:spcPts val="1000"/>
              </a:spcAft>
              <a:buSzPct val="100000"/>
              <a:buChar char="•"/>
            </a:pPr>
            <a:r>
              <a:rPr lang="en-US" sz="1800" i="1" dirty="0">
                <a:solidFill>
                  <a:srgbClr val="E7E3D8"/>
                </a:solidFill>
                <a:latin typeface="Calibri" pitchFamily="34" charset="0"/>
                <a:ea typeface="Calibri" pitchFamily="34" charset="-122"/>
                <a:cs typeface="Calibri" pitchFamily="34" charset="-120"/>
              </a:rPr>
              <a:t>Problem: Soroban charges write bytes for the whole entry on every rewrite, and every trade rewrites the book</a:t>
            </a:r>
          </a:p>
          <a:p>
            <a:pPr marL="228600" indent="-228600">
              <a:spcAft>
                <a:spcPts val="1000"/>
              </a:spcAft>
              <a:buSzPct val="100000"/>
              <a:buChar char="•"/>
            </a:pPr>
            <a:r>
              <a:rPr lang="en-US" i="1">
                <a:solidFill>
                  <a:srgbClr val="E7E3D8"/>
                </a:solidFill>
                <a:latin typeface="Calibri" pitchFamily="34" charset="0"/>
                <a:cs typeface="Calibri" pitchFamily="34" charset="-120"/>
              </a:rPr>
              <a:t>Lesson: Small entries</a:t>
            </a:r>
            <a:endParaRPr lang="en-US" sz="1800" i="1" dirty="0"/>
          </a:p>
        </p:txBody>
      </p:sp>
      <p:pic>
        <p:nvPicPr>
          <p:cNvPr id="8" name="Picture 7">
            <a:extLst>
              <a:ext uri="{FF2B5EF4-FFF2-40B4-BE49-F238E27FC236}">
                <a16:creationId xmlns:a16="http://schemas.microsoft.com/office/drawing/2014/main" id="{CEACF53F-BA8F-5BC8-B8BB-BEE8FBC9CD6D}"/>
              </a:ext>
            </a:extLst>
          </p:cNvPr>
          <p:cNvPicPr>
            <a:picLocks/>
          </p:cNvPicPr>
          <p:nvPr/>
        </p:nvPicPr>
        <p:blipFill>
          <a:blip r:embed="rId3"/>
          <a:stretch>
            <a:fillRect/>
          </a:stretch>
        </p:blipFill>
        <p:spPr>
          <a:xfrm>
            <a:off x="5943600" y="1600200"/>
            <a:ext cx="5608015" cy="325626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71613"/>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828800" cy="274320"/>
          </a:xfrm>
          <a:prstGeom prst="rect">
            <a:avLst/>
          </a:prstGeom>
          <a:noFill/>
          <a:ln/>
        </p:spPr>
        <p:txBody>
          <a:bodyPr wrap="square" lIns="0" tIns="0" rIns="0" bIns="0" rtlCol="0" anchor="ctr"/>
          <a:lstStyle/>
          <a:p>
            <a:pPr marL="0" indent="0">
              <a:buNone/>
            </a:pPr>
            <a:r>
              <a:rPr lang="en-US" sz="1200" dirty="0">
                <a:solidFill>
                  <a:srgbClr val="9C978A"/>
                </a:solidFill>
                <a:latin typeface="Calibri" pitchFamily="34" charset="0"/>
                <a:ea typeface="Calibri" pitchFamily="34" charset="-122"/>
                <a:cs typeface="Calibri" pitchFamily="34" charset="-120"/>
              </a:rPr>
              <a:t>5</a:t>
            </a:r>
            <a:endParaRPr lang="en-US" sz="1200" dirty="0"/>
          </a:p>
        </p:txBody>
      </p:sp>
      <p:sp>
        <p:nvSpPr>
          <p:cNvPr id="3" name="Text 1"/>
          <p:cNvSpPr txBox="1"/>
          <p:nvPr/>
        </p:nvSpPr>
        <p:spPr>
          <a:xfrm>
            <a:off x="640080" y="704088"/>
            <a:ext cx="10911535" cy="731520"/>
          </a:xfrm>
          <a:prstGeom prst="rect">
            <a:avLst/>
          </a:prstGeom>
          <a:noFill/>
          <a:ln/>
        </p:spPr>
        <p:txBody>
          <a:bodyPr wrap="square" lIns="0" tIns="0" rIns="0" bIns="0" rtlCol="0" anchor="t"/>
          <a:lstStyle/>
          <a:p>
            <a:pPr marL="0" indent="0">
              <a:buNone/>
            </a:pPr>
            <a:r>
              <a:rPr lang="en-US" sz="3400" b="1" dirty="0" err="1">
                <a:solidFill>
                  <a:srgbClr val="E7E3D8"/>
                </a:solidFill>
                <a:latin typeface="Cambria" pitchFamily="34" charset="0"/>
                <a:ea typeface="Cambria" pitchFamily="34" charset="-122"/>
                <a:cs typeface="Cambria" pitchFamily="34" charset="-120"/>
              </a:rPr>
              <a:t>PageBook’s</a:t>
            </a:r>
            <a:r>
              <a:rPr lang="en-US" sz="3400" b="1" dirty="0">
                <a:solidFill>
                  <a:srgbClr val="E7E3D8"/>
                </a:solidFill>
                <a:latin typeface="Cambria" pitchFamily="34" charset="0"/>
                <a:ea typeface="Cambria" pitchFamily="34" charset="-122"/>
                <a:cs typeface="Cambria" pitchFamily="34" charset="-120"/>
              </a:rPr>
              <a:t> “good enough” concessions</a:t>
            </a:r>
            <a:endParaRPr lang="en-US" sz="3400" dirty="0"/>
          </a:p>
        </p:txBody>
      </p:sp>
      <p:sp>
        <p:nvSpPr>
          <p:cNvPr id="4" name="Text 2"/>
          <p:cNvSpPr txBox="1"/>
          <p:nvPr/>
        </p:nvSpPr>
        <p:spPr>
          <a:xfrm>
            <a:off x="634999" y="1600200"/>
            <a:ext cx="10922000" cy="4526280"/>
          </a:xfrm>
          <a:prstGeom prst="rect">
            <a:avLst/>
          </a:prstGeom>
          <a:noFill/>
          <a:ln/>
        </p:spPr>
        <p:txBody>
          <a:bodyPr wrap="square" lIns="0" tIns="0" rIns="0" bIns="0" rtlCol="0" anchor="t"/>
          <a:lstStyle/>
          <a:p>
            <a:pPr marL="228600" indent="-228600">
              <a:spcAft>
                <a:spcPts val="1000"/>
              </a:spcAft>
              <a:buSzPct val="100000"/>
              <a:buChar char="•"/>
            </a:pPr>
            <a:r>
              <a:rPr lang="en-US" sz="2200" b="1" dirty="0">
                <a:solidFill>
                  <a:srgbClr val="E7E3D8"/>
                </a:solidFill>
                <a:latin typeface="Calibri" pitchFamily="34" charset="0"/>
                <a:ea typeface="Calibri" pitchFamily="34" charset="-122"/>
                <a:cs typeface="Calibri" pitchFamily="34" charset="-120"/>
              </a:rPr>
              <a:t>Price quantization</a:t>
            </a:r>
            <a:r>
              <a:rPr lang="en-US" sz="2200" dirty="0">
                <a:solidFill>
                  <a:srgbClr val="E7E3D8"/>
                </a:solidFill>
                <a:latin typeface="Calibri" pitchFamily="34" charset="0"/>
                <a:ea typeface="Calibri" pitchFamily="34" charset="-122"/>
                <a:cs typeface="Calibri" pitchFamily="34" charset="-120"/>
              </a:rPr>
              <a:t>. Admin-created markets with a fixed lot size, tick size, and tick band</a:t>
            </a:r>
            <a:endParaRPr lang="en-US" sz="2200" dirty="0"/>
          </a:p>
          <a:p>
            <a:pPr marL="228600" indent="-228600">
              <a:spcAft>
                <a:spcPts val="1000"/>
              </a:spcAft>
              <a:buSzPct val="100000"/>
              <a:buChar char="•"/>
            </a:pPr>
            <a:r>
              <a:rPr lang="en-US" sz="2200" b="1" dirty="0">
                <a:solidFill>
                  <a:srgbClr val="E7E3D8"/>
                </a:solidFill>
                <a:latin typeface="Calibri" pitchFamily="34" charset="0"/>
                <a:ea typeface="Calibri" pitchFamily="34" charset="-122"/>
                <a:cs typeface="Calibri" pitchFamily="34" charset="-120"/>
              </a:rPr>
              <a:t>Async maker settlement</a:t>
            </a:r>
            <a:r>
              <a:rPr lang="en-US" sz="2200" dirty="0">
                <a:solidFill>
                  <a:srgbClr val="E7E3D8"/>
                </a:solidFill>
                <a:latin typeface="Calibri" pitchFamily="34" charset="0"/>
                <a:ea typeface="Calibri" pitchFamily="34" charset="-122"/>
                <a:cs typeface="Calibri" pitchFamily="34" charset="-120"/>
              </a:rPr>
              <a:t>. The taker settles at apply; the maker calls settle later</a:t>
            </a:r>
          </a:p>
          <a:p>
            <a:pPr marL="228600" indent="-228600">
              <a:spcAft>
                <a:spcPts val="1000"/>
              </a:spcAft>
              <a:buSzPct val="100000"/>
              <a:buChar char="•"/>
            </a:pPr>
            <a:r>
              <a:rPr lang="en-US" sz="2200" b="1" dirty="0">
                <a:solidFill>
                  <a:srgbClr val="E7E3D8"/>
                </a:solidFill>
                <a:latin typeface="Calibri" pitchFamily="34" charset="0"/>
                <a:ea typeface="Calibri" pitchFamily="34" charset="-122"/>
                <a:cs typeface="Calibri" pitchFamily="34" charset="-120"/>
              </a:rPr>
              <a:t>Slightly stale best</a:t>
            </a:r>
            <a:r>
              <a:rPr lang="en-US" sz="2200" dirty="0">
                <a:solidFill>
                  <a:srgbClr val="E7E3D8"/>
                </a:solidFill>
                <a:latin typeface="Calibri" pitchFamily="34" charset="0"/>
                <a:ea typeface="Calibri" pitchFamily="34" charset="-122"/>
                <a:cs typeface="Calibri" pitchFamily="34" charset="-120"/>
              </a:rPr>
              <a:t>. The take starts from the best price seen at simulation</a:t>
            </a:r>
            <a:endParaRPr lang="en-US" sz="2200" dirty="0"/>
          </a:p>
          <a:p>
            <a:pPr marL="228600" indent="-228600">
              <a:spcAft>
                <a:spcPts val="1000"/>
              </a:spcAft>
              <a:buSzPct val="100000"/>
              <a:buChar char="•"/>
            </a:pPr>
            <a:r>
              <a:rPr lang="en-US" sz="2200" b="1" dirty="0">
                <a:solidFill>
                  <a:srgbClr val="E7E3D8"/>
                </a:solidFill>
                <a:latin typeface="Calibri" pitchFamily="34" charset="0"/>
                <a:ea typeface="Calibri" pitchFamily="34" charset="-122"/>
                <a:cs typeface="Calibri" pitchFamily="34" charset="-120"/>
              </a:rPr>
              <a:t>Footprint padding</a:t>
            </a:r>
            <a:r>
              <a:rPr lang="en-US" sz="2200" dirty="0">
                <a:solidFill>
                  <a:srgbClr val="E7E3D8"/>
                </a:solidFill>
                <a:latin typeface="Calibri" pitchFamily="34" charset="0"/>
                <a:ea typeface="Calibri" pitchFamily="34" charset="-122"/>
                <a:cs typeface="Calibri" pitchFamily="34" charset="-120"/>
              </a:rPr>
              <a:t>. The client declares a band of price levels around the simulated best</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71613"/>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828800" cy="274320"/>
          </a:xfrm>
          <a:prstGeom prst="rect">
            <a:avLst/>
          </a:prstGeom>
          <a:noFill/>
          <a:ln/>
        </p:spPr>
        <p:txBody>
          <a:bodyPr wrap="square" lIns="0" tIns="0" rIns="0" bIns="0" rtlCol="0" anchor="ctr"/>
          <a:lstStyle/>
          <a:p>
            <a:pPr marL="0" indent="0">
              <a:buNone/>
            </a:pPr>
            <a:r>
              <a:rPr lang="en-US" sz="1200" dirty="0">
                <a:solidFill>
                  <a:srgbClr val="9C978A"/>
                </a:solidFill>
                <a:latin typeface="Calibri" pitchFamily="34" charset="0"/>
                <a:ea typeface="Calibri" pitchFamily="34" charset="-122"/>
                <a:cs typeface="Calibri" pitchFamily="34" charset="-120"/>
              </a:rPr>
              <a:t>6</a:t>
            </a:r>
            <a:endParaRPr lang="en-US" sz="1200" dirty="0"/>
          </a:p>
        </p:txBody>
      </p:sp>
      <p:sp>
        <p:nvSpPr>
          <p:cNvPr id="3" name="Text 1"/>
          <p:cNvSpPr txBox="1"/>
          <p:nvPr/>
        </p:nvSpPr>
        <p:spPr>
          <a:xfrm>
            <a:off x="640080" y="704088"/>
            <a:ext cx="10911535" cy="731520"/>
          </a:xfrm>
          <a:prstGeom prst="rect">
            <a:avLst/>
          </a:prstGeom>
          <a:noFill/>
          <a:ln/>
        </p:spPr>
        <p:txBody>
          <a:bodyPr wrap="square" lIns="0" tIns="0" rIns="0" bIns="0" rtlCol="0" anchor="t"/>
          <a:lstStyle/>
          <a:p>
            <a:pPr marL="0" indent="0">
              <a:buNone/>
            </a:pPr>
            <a:r>
              <a:rPr lang="en-US" sz="3400" b="1" dirty="0">
                <a:solidFill>
                  <a:srgbClr val="E7E3D8"/>
                </a:solidFill>
                <a:latin typeface="Cambria" pitchFamily="34" charset="0"/>
                <a:ea typeface="Cambria" pitchFamily="34" charset="-122"/>
                <a:cs typeface="Cambria" pitchFamily="34" charset="-120"/>
              </a:rPr>
              <a:t>Introducing PageBook</a:t>
            </a:r>
            <a:endParaRPr lang="en-US" sz="3400" dirty="0"/>
          </a:p>
        </p:txBody>
      </p:sp>
      <p:sp>
        <p:nvSpPr>
          <p:cNvPr id="9" name="TextBox 8">
            <a:extLst>
              <a:ext uri="{FF2B5EF4-FFF2-40B4-BE49-F238E27FC236}">
                <a16:creationId xmlns:a16="http://schemas.microsoft.com/office/drawing/2014/main" id="{F5FEC718-68D5-03A3-427F-CB029249B7BB}"/>
              </a:ext>
            </a:extLst>
          </p:cNvPr>
          <p:cNvSpPr txBox="1"/>
          <p:nvPr/>
        </p:nvSpPr>
        <p:spPr>
          <a:xfrm>
            <a:off x="635000" y="1651000"/>
            <a:ext cx="10922000" cy="1908215"/>
          </a:xfrm>
          <a:prstGeom prst="rect">
            <a:avLst/>
          </a:prstGeom>
          <a:noFill/>
        </p:spPr>
        <p:txBody>
          <a:bodyPr vert="horz" rtlCol="0">
            <a:spAutoFit/>
          </a:bodyPr>
          <a:lstStyle/>
          <a:p>
            <a:pPr marL="457200" indent="-457200">
              <a:spcAft>
                <a:spcPts val="1200"/>
              </a:spcAft>
              <a:buFont typeface="+mj-lt"/>
              <a:buChar char="•"/>
            </a:pPr>
            <a:r>
              <a:rPr lang="en-US" sz="2200" dirty="0">
                <a:solidFill>
                  <a:srgbClr val="E7E3D8"/>
                </a:solidFill>
                <a:latin typeface="Calibri" panose="020F0502020204030204" pitchFamily="34" charset="0"/>
              </a:rPr>
              <a:t>Orders live across three data structures with predictable keys and small entries</a:t>
            </a:r>
          </a:p>
          <a:p>
            <a:pPr marL="914400" lvl="1" indent="-457200">
              <a:spcAft>
                <a:spcPts val="1200"/>
              </a:spcAft>
              <a:buFont typeface="+mj-lt"/>
              <a:buChar char="•"/>
            </a:pPr>
            <a:r>
              <a:rPr lang="en-US" sz="2200" b="1" dirty="0">
                <a:solidFill>
                  <a:srgbClr val="E7E3D8"/>
                </a:solidFill>
                <a:latin typeface="Calibri" panose="020F0502020204030204" pitchFamily="34" charset="0"/>
              </a:rPr>
              <a:t>Tick index</a:t>
            </a:r>
            <a:r>
              <a:rPr lang="en-US" sz="2200" dirty="0">
                <a:solidFill>
                  <a:srgbClr val="E7E3D8"/>
                </a:solidFill>
                <a:latin typeface="Calibri" panose="020F0502020204030204" pitchFamily="34" charset="0"/>
              </a:rPr>
              <a:t> finds price levels with supply</a:t>
            </a:r>
          </a:p>
          <a:p>
            <a:pPr marL="914400" lvl="1" indent="-457200">
              <a:spcAft>
                <a:spcPts val="1200"/>
              </a:spcAft>
              <a:buFont typeface="+mj-lt"/>
              <a:buChar char="•"/>
            </a:pPr>
            <a:r>
              <a:rPr lang="en-US" sz="2200" b="1" dirty="0">
                <a:solidFill>
                  <a:srgbClr val="E7E3D8"/>
                </a:solidFill>
                <a:latin typeface="Calibri" panose="020F0502020204030204" pitchFamily="34" charset="0"/>
              </a:rPr>
              <a:t>Level queue</a:t>
            </a:r>
            <a:r>
              <a:rPr lang="en-US" sz="2200" dirty="0">
                <a:solidFill>
                  <a:srgbClr val="E7E3D8"/>
                </a:solidFill>
                <a:latin typeface="Calibri" panose="020F0502020204030204" pitchFamily="34" charset="0"/>
              </a:rPr>
              <a:t> holds the orders at one price</a:t>
            </a:r>
          </a:p>
          <a:p>
            <a:pPr marL="914400" lvl="1" indent="-457200">
              <a:spcAft>
                <a:spcPts val="1200"/>
              </a:spcAft>
              <a:buFont typeface="+mj-lt"/>
              <a:buChar char="•"/>
            </a:pPr>
            <a:r>
              <a:rPr lang="en-US" sz="2200" b="1" dirty="0">
                <a:solidFill>
                  <a:srgbClr val="E7E3D8"/>
                </a:solidFill>
                <a:latin typeface="Calibri" panose="020F0502020204030204" pitchFamily="34" charset="0"/>
              </a:rPr>
              <a:t>Order record</a:t>
            </a:r>
            <a:r>
              <a:rPr lang="en-US" sz="2200" dirty="0">
                <a:solidFill>
                  <a:srgbClr val="E7E3D8"/>
                </a:solidFill>
                <a:latin typeface="Calibri" panose="020F0502020204030204" pitchFamily="34" charset="0"/>
              </a:rPr>
              <a:t> is a maker's claim on its place in the queue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71613"/>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828800" cy="274320"/>
          </a:xfrm>
          <a:prstGeom prst="rect">
            <a:avLst/>
          </a:prstGeom>
          <a:noFill/>
          <a:ln/>
        </p:spPr>
        <p:txBody>
          <a:bodyPr wrap="square" lIns="0" tIns="0" rIns="0" bIns="0" rtlCol="0" anchor="ctr"/>
          <a:lstStyle/>
          <a:p>
            <a:pPr marL="0" indent="0">
              <a:buNone/>
            </a:pPr>
            <a:r>
              <a:rPr lang="en-US" sz="1200" dirty="0">
                <a:solidFill>
                  <a:srgbClr val="9C978A"/>
                </a:solidFill>
                <a:latin typeface="Calibri" pitchFamily="34" charset="0"/>
                <a:ea typeface="Calibri" pitchFamily="34" charset="-122"/>
                <a:cs typeface="Calibri" pitchFamily="34" charset="-120"/>
              </a:rPr>
              <a:t>7</a:t>
            </a:r>
            <a:endParaRPr lang="en-US" sz="1200" dirty="0"/>
          </a:p>
        </p:txBody>
      </p:sp>
      <p:sp>
        <p:nvSpPr>
          <p:cNvPr id="3" name="Text 1"/>
          <p:cNvSpPr txBox="1"/>
          <p:nvPr/>
        </p:nvSpPr>
        <p:spPr>
          <a:xfrm>
            <a:off x="640080" y="704088"/>
            <a:ext cx="10911535" cy="731520"/>
          </a:xfrm>
          <a:prstGeom prst="rect">
            <a:avLst/>
          </a:prstGeom>
          <a:noFill/>
          <a:ln/>
        </p:spPr>
        <p:txBody>
          <a:bodyPr wrap="square" lIns="0" tIns="0" rIns="0" bIns="0" rtlCol="0" anchor="t"/>
          <a:lstStyle/>
          <a:p>
            <a:pPr marL="0" indent="0">
              <a:buNone/>
            </a:pPr>
            <a:r>
              <a:rPr lang="en-US" sz="3400" b="1" dirty="0">
                <a:solidFill>
                  <a:srgbClr val="E7E3D8"/>
                </a:solidFill>
                <a:latin typeface="Cambria" pitchFamily="34" charset="0"/>
                <a:ea typeface="Cambria" pitchFamily="34" charset="-122"/>
                <a:cs typeface="Cambria" pitchFamily="34" charset="-120"/>
              </a:rPr>
              <a:t>Tick index</a:t>
            </a:r>
            <a:endParaRPr lang="en-US" sz="3400" dirty="0"/>
          </a:p>
        </p:txBody>
      </p:sp>
      <p:pic>
        <p:nvPicPr>
          <p:cNvPr id="4" name="Image 0" descr="fig/fig08.png"/>
          <p:cNvPicPr>
            <a:picLocks noChangeAspect="1"/>
          </p:cNvPicPr>
          <p:nvPr/>
        </p:nvPicPr>
        <p:blipFill>
          <a:blip r:embed="rId3"/>
          <a:stretch>
            <a:fillRect/>
          </a:stretch>
        </p:blipFill>
        <p:spPr>
          <a:xfrm>
            <a:off x="640080" y="3327400"/>
            <a:ext cx="10911535" cy="3087732"/>
          </a:xfrm>
          <a:prstGeom prst="rect">
            <a:avLst/>
          </a:prstGeom>
        </p:spPr>
      </p:pic>
      <p:sp>
        <p:nvSpPr>
          <p:cNvPr id="7" name="TextBox 6">
            <a:extLst>
              <a:ext uri="{FF2B5EF4-FFF2-40B4-BE49-F238E27FC236}">
                <a16:creationId xmlns:a16="http://schemas.microsoft.com/office/drawing/2014/main" id="{5FF1A233-FF35-ECA8-9A6F-7C18AAFA77F8}"/>
              </a:ext>
            </a:extLst>
          </p:cNvPr>
          <p:cNvSpPr txBox="1"/>
          <p:nvPr/>
        </p:nvSpPr>
        <p:spPr>
          <a:xfrm>
            <a:off x="635000" y="1498600"/>
            <a:ext cx="10922000" cy="1714500"/>
          </a:xfrm>
          <a:prstGeom prst="rect">
            <a:avLst/>
          </a:prstGeom>
          <a:noFill/>
        </p:spPr>
        <p:txBody>
          <a:bodyPr vert="horz" rtlCol="0">
            <a:spAutoFit/>
          </a:bodyPr>
          <a:lstStyle/>
          <a:p>
            <a:pPr marL="457200" indent="-457200">
              <a:spcAft>
                <a:spcPts val="600"/>
              </a:spcAft>
              <a:buFont typeface="+mj-lt"/>
              <a:buChar char="•"/>
            </a:pPr>
            <a:r>
              <a:rPr lang="en-US" sz="2000" b="1" dirty="0">
                <a:solidFill>
                  <a:srgbClr val="E7E3D8"/>
                </a:solidFill>
                <a:latin typeface="Calibri" panose="020F0502020204030204" pitchFamily="34" charset="0"/>
              </a:rPr>
              <a:t>A two‑level bitmap of which price levels may have supply, so matching finds the next level without a scan.</a:t>
            </a:r>
            <a:r>
              <a:rPr lang="en-US" sz="2000" dirty="0">
                <a:solidFill>
                  <a:srgbClr val="E7E3D8"/>
                </a:solidFill>
                <a:latin typeface="Calibri" panose="020F0502020204030204" pitchFamily="34" charset="0"/>
              </a:rPr>
              <a:t> A 2,048‑bit summary over 2,048‑bit words covers 2^22 ticks; each bitmap is one 256‑byte entry</a:t>
            </a:r>
          </a:p>
          <a:p>
            <a:pPr marL="457200" indent="-457200">
              <a:spcAft>
                <a:spcPts val="600"/>
              </a:spcAft>
              <a:buFont typeface="+mj-lt"/>
              <a:buChar char="•"/>
            </a:pPr>
            <a:r>
              <a:rPr lang="en-US" sz="2000" b="1" dirty="0">
                <a:solidFill>
                  <a:srgbClr val="E7E3D8"/>
                </a:solidFill>
                <a:latin typeface="Calibri" panose="020F0502020204030204" pitchFamily="34" charset="0"/>
              </a:rPr>
              <a:t>Derived, allowed to be stale.</a:t>
            </a:r>
            <a:r>
              <a:rPr lang="en-US" sz="2000" dirty="0">
                <a:solidFill>
                  <a:srgbClr val="E7E3D8"/>
                </a:solidFill>
                <a:latin typeface="Calibri" panose="020F0502020204030204" pitchFamily="34" charset="0"/>
              </a:rPr>
              <a:t> A live level always has its bit set; a set bit over an empty level is cleared by the next taker to land there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1613"/>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828800" cy="274320"/>
          </a:xfrm>
          <a:prstGeom prst="rect">
            <a:avLst/>
          </a:prstGeom>
          <a:noFill/>
          <a:ln/>
        </p:spPr>
        <p:txBody>
          <a:bodyPr wrap="square" lIns="0" tIns="0" rIns="0" bIns="0" rtlCol="0" anchor="ctr"/>
          <a:lstStyle/>
          <a:p>
            <a:pPr marL="0" indent="0">
              <a:buNone/>
            </a:pPr>
            <a:r>
              <a:rPr lang="en-US" sz="1200" dirty="0">
                <a:solidFill>
                  <a:srgbClr val="9C978A"/>
                </a:solidFill>
                <a:latin typeface="Calibri" pitchFamily="34" charset="0"/>
                <a:ea typeface="Calibri" pitchFamily="34" charset="-122"/>
                <a:cs typeface="Calibri" pitchFamily="34" charset="-120"/>
              </a:rPr>
              <a:t>8</a:t>
            </a:r>
            <a:endParaRPr lang="en-US" sz="1200" dirty="0"/>
          </a:p>
        </p:txBody>
      </p:sp>
      <p:sp>
        <p:nvSpPr>
          <p:cNvPr id="3" name="Text 1"/>
          <p:cNvSpPr txBox="1"/>
          <p:nvPr/>
        </p:nvSpPr>
        <p:spPr>
          <a:xfrm>
            <a:off x="640080" y="704088"/>
            <a:ext cx="10911535" cy="731520"/>
          </a:xfrm>
          <a:prstGeom prst="rect">
            <a:avLst/>
          </a:prstGeom>
          <a:noFill/>
          <a:ln/>
        </p:spPr>
        <p:txBody>
          <a:bodyPr wrap="square" lIns="0" tIns="0" rIns="0" bIns="0" rtlCol="0" anchor="t"/>
          <a:lstStyle/>
          <a:p>
            <a:pPr marL="0" indent="0">
              <a:buNone/>
            </a:pPr>
            <a:r>
              <a:rPr lang="en-US" sz="3400" b="1" dirty="0">
                <a:solidFill>
                  <a:srgbClr val="E7E3D8"/>
                </a:solidFill>
                <a:latin typeface="Cambria" pitchFamily="34" charset="0"/>
                <a:ea typeface="Cambria" pitchFamily="34" charset="-122"/>
                <a:cs typeface="Cambria" pitchFamily="34" charset="-120"/>
              </a:rPr>
              <a:t>Level queue</a:t>
            </a:r>
            <a:endParaRPr lang="en-US" sz="3400" dirty="0"/>
          </a:p>
        </p:txBody>
      </p:sp>
      <p:pic>
        <p:nvPicPr>
          <p:cNvPr id="4" name="Image 0" descr="fig/fig09.png"/>
          <p:cNvPicPr>
            <a:picLocks noChangeAspect="1"/>
          </p:cNvPicPr>
          <p:nvPr/>
        </p:nvPicPr>
        <p:blipFill>
          <a:blip r:embed="rId3"/>
          <a:stretch>
            <a:fillRect/>
          </a:stretch>
        </p:blipFill>
        <p:spPr>
          <a:xfrm>
            <a:off x="1313385" y="3403600"/>
            <a:ext cx="9565230" cy="3276600"/>
          </a:xfrm>
          <a:prstGeom prst="rect">
            <a:avLst/>
          </a:prstGeom>
        </p:spPr>
      </p:pic>
      <p:sp>
        <p:nvSpPr>
          <p:cNvPr id="7" name="TextBox 6">
            <a:extLst>
              <a:ext uri="{FF2B5EF4-FFF2-40B4-BE49-F238E27FC236}">
                <a16:creationId xmlns:a16="http://schemas.microsoft.com/office/drawing/2014/main" id="{C68FBD9E-B521-59F2-58CC-E64D75723F3E}"/>
              </a:ext>
            </a:extLst>
          </p:cNvPr>
          <p:cNvSpPr txBox="1"/>
          <p:nvPr/>
        </p:nvSpPr>
        <p:spPr>
          <a:xfrm>
            <a:off x="635000" y="1498600"/>
            <a:ext cx="10922000" cy="1708160"/>
          </a:xfrm>
          <a:prstGeom prst="rect">
            <a:avLst/>
          </a:prstGeom>
          <a:noFill/>
        </p:spPr>
        <p:txBody>
          <a:bodyPr vert="horz" rtlCol="0">
            <a:spAutoFit/>
          </a:bodyPr>
          <a:lstStyle/>
          <a:p>
            <a:pPr marL="457200" indent="-457200">
              <a:spcAft>
                <a:spcPts val="600"/>
              </a:spcAft>
              <a:buFont typeface="+mj-lt"/>
              <a:buChar char="•"/>
            </a:pPr>
            <a:r>
              <a:rPr lang="en-US" sz="2000" b="1">
                <a:solidFill>
                  <a:srgbClr val="E7E3D8"/>
                </a:solidFill>
                <a:latin typeface="Calibri" panose="020F0502020204030204" pitchFamily="34" charset="0"/>
              </a:rPr>
              <a:t>One entry per price level, so crossing a price touches one key however many orders rest there.</a:t>
            </a:r>
            <a:r>
              <a:rPr lang="en-US" sz="2000">
                <a:solidFill>
                  <a:srgbClr val="E7E3D8"/>
                </a:solidFill>
                <a:latin typeface="Calibri" panose="020F0502020204030204" pitchFamily="34" charset="0"/>
              </a:rPr>
              <a:t> A FIFO of order quantities: appends go at the tail, the head advances, consumed history is dropped behind it. 124 B empty, 12 B per slot ahead of the head</a:t>
            </a:r>
            <a:endParaRPr lang="en-US" sz="2000" dirty="0">
              <a:solidFill>
                <a:srgbClr val="E7E3D8"/>
              </a:solidFill>
              <a:latin typeface="Calibri" panose="020F0502020204030204" pitchFamily="34" charset="0"/>
            </a:endParaRPr>
          </a:p>
          <a:p>
            <a:pPr marL="457200" indent="-457200">
              <a:spcAft>
                <a:spcPts val="600"/>
              </a:spcAft>
              <a:buFont typeface="+mj-lt"/>
              <a:buChar char="•"/>
            </a:pPr>
            <a:r>
              <a:rPr lang="en-US" sz="2000" b="1" dirty="0">
                <a:solidFill>
                  <a:srgbClr val="E7E3D8"/>
                </a:solidFill>
                <a:latin typeface="Calibri" panose="020F0502020204030204" pitchFamily="34" charset="0"/>
              </a:rPr>
              <a:t>A sweep is one write.</a:t>
            </a:r>
            <a:r>
              <a:rPr lang="en-US" sz="2000" dirty="0">
                <a:solidFill>
                  <a:srgbClr val="E7E3D8"/>
                </a:solidFill>
                <a:latin typeface="Calibri" panose="020F0502020204030204" pitchFamily="34" charset="0"/>
              </a:rPr>
              <a:t> A taker that clears the level prices it from the open total and writes it empty without reading a single slot. Matching cost scales with levels crossed, not with makers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1613"/>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828800" cy="274320"/>
          </a:xfrm>
          <a:prstGeom prst="rect">
            <a:avLst/>
          </a:prstGeom>
          <a:noFill/>
          <a:ln/>
        </p:spPr>
        <p:txBody>
          <a:bodyPr wrap="square" lIns="0" tIns="0" rIns="0" bIns="0" rtlCol="0" anchor="ctr"/>
          <a:lstStyle/>
          <a:p>
            <a:pPr marL="0" indent="0">
              <a:buNone/>
            </a:pPr>
            <a:r>
              <a:rPr lang="en-US" sz="1200" dirty="0">
                <a:solidFill>
                  <a:srgbClr val="9C978A"/>
                </a:solidFill>
                <a:latin typeface="Calibri" pitchFamily="34" charset="0"/>
                <a:ea typeface="Calibri" pitchFamily="34" charset="-122"/>
                <a:cs typeface="Calibri" pitchFamily="34" charset="-120"/>
              </a:rPr>
              <a:t>9</a:t>
            </a:r>
            <a:endParaRPr lang="en-US" sz="1200" dirty="0"/>
          </a:p>
        </p:txBody>
      </p:sp>
      <p:sp>
        <p:nvSpPr>
          <p:cNvPr id="3" name="Text 1"/>
          <p:cNvSpPr txBox="1"/>
          <p:nvPr/>
        </p:nvSpPr>
        <p:spPr>
          <a:xfrm>
            <a:off x="640080" y="704088"/>
            <a:ext cx="10911535" cy="731520"/>
          </a:xfrm>
          <a:prstGeom prst="rect">
            <a:avLst/>
          </a:prstGeom>
          <a:noFill/>
          <a:ln/>
        </p:spPr>
        <p:txBody>
          <a:bodyPr wrap="square" lIns="0" tIns="0" rIns="0" bIns="0" rtlCol="0" anchor="t"/>
          <a:lstStyle/>
          <a:p>
            <a:pPr marL="0" indent="0">
              <a:buNone/>
            </a:pPr>
            <a:r>
              <a:rPr lang="en-US" sz="3400" b="1" dirty="0">
                <a:solidFill>
                  <a:srgbClr val="E7E3D8"/>
                </a:solidFill>
                <a:latin typeface="Cambria" pitchFamily="34" charset="0"/>
                <a:ea typeface="Cambria" pitchFamily="34" charset="-122"/>
                <a:cs typeface="Cambria" pitchFamily="34" charset="-120"/>
              </a:rPr>
              <a:t>Order record</a:t>
            </a:r>
            <a:endParaRPr lang="en-US" sz="3400" dirty="0"/>
          </a:p>
        </p:txBody>
      </p:sp>
      <p:sp>
        <p:nvSpPr>
          <p:cNvPr id="8" name="TextBox 7">
            <a:extLst>
              <a:ext uri="{FF2B5EF4-FFF2-40B4-BE49-F238E27FC236}">
                <a16:creationId xmlns:a16="http://schemas.microsoft.com/office/drawing/2014/main" id="{D719B53E-C6F8-6340-1A62-0EB70E666E4D}"/>
              </a:ext>
            </a:extLst>
          </p:cNvPr>
          <p:cNvSpPr txBox="1"/>
          <p:nvPr/>
        </p:nvSpPr>
        <p:spPr>
          <a:xfrm>
            <a:off x="635000" y="1498600"/>
            <a:ext cx="10922000" cy="2169825"/>
          </a:xfrm>
          <a:prstGeom prst="rect">
            <a:avLst/>
          </a:prstGeom>
          <a:noFill/>
        </p:spPr>
        <p:txBody>
          <a:bodyPr vert="horz" rtlCol="0">
            <a:spAutoFit/>
          </a:bodyPr>
          <a:lstStyle/>
          <a:p>
            <a:pPr marL="457200" indent="-457200">
              <a:spcAft>
                <a:spcPts val="600"/>
              </a:spcAft>
              <a:buFont typeface="+mj-lt"/>
              <a:buChar char="•"/>
            </a:pPr>
            <a:r>
              <a:rPr lang="en-US" sz="2000" b="1" dirty="0">
                <a:solidFill>
                  <a:srgbClr val="E7E3D8"/>
                </a:solidFill>
                <a:latin typeface="Calibri" panose="020F0502020204030204" pitchFamily="34" charset="0"/>
              </a:rPr>
              <a:t>Ownership lives apart from the queue, so a taker never writes maker state.</a:t>
            </a:r>
            <a:r>
              <a:rPr lang="en-US" sz="2000" dirty="0">
                <a:solidFill>
                  <a:srgbClr val="E7E3D8"/>
                </a:solidFill>
                <a:latin typeface="Calibri" panose="020F0502020204030204" pitchFamily="34" charset="0"/>
              </a:rPr>
              <a:t> </a:t>
            </a:r>
          </a:p>
          <a:p>
            <a:pPr marL="457200" indent="-457200">
              <a:spcAft>
                <a:spcPts val="600"/>
              </a:spcAft>
              <a:buFont typeface="+mj-lt"/>
              <a:buChar char="•"/>
            </a:pPr>
            <a:r>
              <a:rPr lang="en-US" sz="2000" dirty="0">
                <a:solidFill>
                  <a:srgbClr val="E7E3D8"/>
                </a:solidFill>
                <a:latin typeface="Calibri" panose="020F0502020204030204" pitchFamily="34" charset="0"/>
              </a:rPr>
              <a:t>Keyed by the maker and a nonce it picks, so the key is known before the transaction runs; the queue position is stored inside, where it cannot affect the footprint</a:t>
            </a:r>
          </a:p>
          <a:p>
            <a:pPr marL="457200" indent="-457200">
              <a:spcAft>
                <a:spcPts val="600"/>
              </a:spcAft>
              <a:buFont typeface="+mj-lt"/>
              <a:buChar char="•"/>
            </a:pPr>
            <a:r>
              <a:rPr lang="en-US" sz="2000" b="1" dirty="0">
                <a:solidFill>
                  <a:srgbClr val="E7E3D8"/>
                </a:solidFill>
                <a:latin typeface="Calibri" panose="020F0502020204030204" pitchFamily="34" charset="0"/>
              </a:rPr>
              <a:t>Settle is a comparison.</a:t>
            </a:r>
            <a:r>
              <a:rPr lang="en-US" sz="2000" dirty="0">
                <a:solidFill>
                  <a:srgbClr val="E7E3D8"/>
                </a:solidFill>
                <a:latin typeface="Calibri" panose="020F0502020204030204" pitchFamily="34" charset="0"/>
              </a:rPr>
              <a:t> The record's generation and sequence against the level's counters say filled, still open, or both, in constant work whatever the queue holds</a:t>
            </a:r>
          </a:p>
          <a:p>
            <a:pPr marL="457200" indent="-457200">
              <a:spcAft>
                <a:spcPts val="600"/>
              </a:spcAft>
              <a:buFont typeface="+mj-lt"/>
              <a:buChar char="•"/>
            </a:pPr>
            <a:r>
              <a:rPr lang="en-US" sz="2000" b="1" dirty="0">
                <a:solidFill>
                  <a:srgbClr val="E7E3D8"/>
                </a:solidFill>
                <a:latin typeface="Calibri" panose="020F0502020204030204" pitchFamily="34" charset="0"/>
              </a:rPr>
              <a:t>Replace rewrites in place.</a:t>
            </a:r>
            <a:r>
              <a:rPr lang="en-US" sz="2000" dirty="0">
                <a:solidFill>
                  <a:srgbClr val="E7E3D8"/>
                </a:solidFill>
                <a:latin typeface="Calibri" panose="020F0502020204030204" pitchFamily="34" charset="0"/>
              </a:rPr>
              <a:t> The record is fixed-size, so moving a quote pays no new rent</a:t>
            </a:r>
          </a:p>
        </p:txBody>
      </p:sp>
      <p:pic>
        <p:nvPicPr>
          <p:cNvPr id="10" name="Picture 9">
            <a:extLst>
              <a:ext uri="{FF2B5EF4-FFF2-40B4-BE49-F238E27FC236}">
                <a16:creationId xmlns:a16="http://schemas.microsoft.com/office/drawing/2014/main" id="{2A640F25-BC0F-FF3D-8BA4-21DCDC0F503A}"/>
              </a:ext>
            </a:extLst>
          </p:cNvPr>
          <p:cNvPicPr>
            <a:picLocks/>
          </p:cNvPicPr>
          <p:nvPr/>
        </p:nvPicPr>
        <p:blipFill>
          <a:blip r:embed="rId3"/>
          <a:stretch>
            <a:fillRect/>
          </a:stretch>
        </p:blipFill>
        <p:spPr>
          <a:xfrm>
            <a:off x="1200562" y="3810000"/>
            <a:ext cx="9790877" cy="2895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71613"/>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828800" cy="274320"/>
          </a:xfrm>
          <a:prstGeom prst="rect">
            <a:avLst/>
          </a:prstGeom>
          <a:noFill/>
          <a:ln/>
        </p:spPr>
        <p:txBody>
          <a:bodyPr wrap="square" lIns="0" tIns="0" rIns="0" bIns="0" rtlCol="0" anchor="ctr"/>
          <a:lstStyle/>
          <a:p>
            <a:pPr marL="0" indent="0">
              <a:buNone/>
            </a:pPr>
            <a:r>
              <a:rPr lang="en-US" sz="1200">
                <a:solidFill>
                  <a:srgbClr val="9C978A"/>
                </a:solidFill>
                <a:latin typeface="Calibri" pitchFamily="34" charset="0"/>
                <a:ea typeface="Calibri" pitchFamily="34" charset="-122"/>
                <a:cs typeface="Calibri" pitchFamily="34" charset="-120"/>
              </a:rPr>
              <a:t>10</a:t>
            </a:r>
            <a:endParaRPr lang="en-US" sz="1200" dirty="0"/>
          </a:p>
        </p:txBody>
      </p:sp>
      <p:sp>
        <p:nvSpPr>
          <p:cNvPr id="3" name="Text 1"/>
          <p:cNvSpPr txBox="1"/>
          <p:nvPr/>
        </p:nvSpPr>
        <p:spPr>
          <a:xfrm>
            <a:off x="640080" y="704088"/>
            <a:ext cx="10911535" cy="731520"/>
          </a:xfrm>
          <a:prstGeom prst="rect">
            <a:avLst/>
          </a:prstGeom>
          <a:noFill/>
          <a:ln/>
        </p:spPr>
        <p:txBody>
          <a:bodyPr wrap="square" lIns="0" tIns="0" rIns="0" bIns="0" rtlCol="0" anchor="t"/>
          <a:lstStyle/>
          <a:p>
            <a:pPr marL="0" indent="0">
              <a:buNone/>
            </a:pPr>
            <a:r>
              <a:rPr lang="en-US" sz="3400" b="1" dirty="0">
                <a:solidFill>
                  <a:srgbClr val="E7E3D8"/>
                </a:solidFill>
                <a:latin typeface="Cambria" pitchFamily="34" charset="0"/>
                <a:ea typeface="Cambria" pitchFamily="34" charset="-122"/>
                <a:cs typeface="Cambria" pitchFamily="34" charset="-120"/>
              </a:rPr>
              <a:t>The taker walk</a:t>
            </a:r>
            <a:endParaRPr lang="en-US" sz="3400" dirty="0"/>
          </a:p>
        </p:txBody>
      </p:sp>
      <p:pic>
        <p:nvPicPr>
          <p:cNvPr id="4" name="Image 0" descr="fig/fig11.png"/>
          <p:cNvPicPr>
            <a:picLocks noChangeAspect="1"/>
          </p:cNvPicPr>
          <p:nvPr/>
        </p:nvPicPr>
        <p:blipFill>
          <a:blip r:embed="rId3"/>
          <a:stretch>
            <a:fillRect/>
          </a:stretch>
        </p:blipFill>
        <p:spPr>
          <a:xfrm>
            <a:off x="1610206" y="3530600"/>
            <a:ext cx="8971588" cy="3149600"/>
          </a:xfrm>
          <a:prstGeom prst="rect">
            <a:avLst/>
          </a:prstGeom>
        </p:spPr>
      </p:pic>
      <p:sp>
        <p:nvSpPr>
          <p:cNvPr id="7" name="TextBox 6">
            <a:extLst>
              <a:ext uri="{FF2B5EF4-FFF2-40B4-BE49-F238E27FC236}">
                <a16:creationId xmlns:a16="http://schemas.microsoft.com/office/drawing/2014/main" id="{E41D6F8B-2559-FD89-3578-742038439B55}"/>
              </a:ext>
            </a:extLst>
          </p:cNvPr>
          <p:cNvSpPr txBox="1"/>
          <p:nvPr/>
        </p:nvSpPr>
        <p:spPr>
          <a:xfrm>
            <a:off x="635000" y="1498600"/>
            <a:ext cx="10922000" cy="1708160"/>
          </a:xfrm>
          <a:prstGeom prst="rect">
            <a:avLst/>
          </a:prstGeom>
          <a:noFill/>
        </p:spPr>
        <p:txBody>
          <a:bodyPr vert="horz" rtlCol="0">
            <a:spAutoFit/>
          </a:bodyPr>
          <a:lstStyle/>
          <a:p>
            <a:pPr marL="457200" indent="-457200">
              <a:spcAft>
                <a:spcPts val="600"/>
              </a:spcAft>
              <a:buFont typeface="+mj-lt"/>
              <a:buChar char="•"/>
            </a:pPr>
            <a:r>
              <a:rPr lang="en-US" sz="2000" b="1">
                <a:solidFill>
                  <a:srgbClr val="E7E3D8"/>
                </a:solidFill>
                <a:latin typeface="Calibri" panose="020F0502020204030204" pitchFamily="34" charset="0"/>
              </a:rPr>
              <a:t>A take crosses the opposite side from the best price outward.</a:t>
            </a:r>
            <a:r>
              <a:rPr lang="en-US" sz="2000">
                <a:solidFill>
                  <a:srgbClr val="E7E3D8"/>
                </a:solidFill>
                <a:latin typeface="Calibri" panose="020F0502020204030204" pitchFamily="34" charset="0"/>
              </a:rPr>
              <a:t> Index, then level, then index again, at most 32 levels per transaction; hitting the cap keeps the progress made, and the remainder rests or is refunded by flag</a:t>
            </a:r>
            <a:endParaRPr lang="en-US" sz="2000" dirty="0">
              <a:solidFill>
                <a:srgbClr val="E7E3D8"/>
              </a:solidFill>
              <a:latin typeface="Calibri" panose="020F0502020204030204" pitchFamily="34" charset="0"/>
            </a:endParaRPr>
          </a:p>
          <a:p>
            <a:pPr marL="457200" indent="-457200">
              <a:spcAft>
                <a:spcPts val="600"/>
              </a:spcAft>
              <a:buFont typeface="+mj-lt"/>
              <a:buChar char="•"/>
            </a:pPr>
            <a:r>
              <a:rPr lang="en-US" sz="2000" b="1" dirty="0">
                <a:solidFill>
                  <a:srgbClr val="E7E3D8"/>
                </a:solidFill>
                <a:latin typeface="Calibri" panose="020F0502020204030204" pitchFamily="34" charset="0"/>
              </a:rPr>
              <a:t>One way to fail.</a:t>
            </a:r>
            <a:r>
              <a:rPr lang="en-US" sz="2000" dirty="0">
                <a:solidFill>
                  <a:srgbClr val="E7E3D8"/>
                </a:solidFill>
                <a:latin typeface="Calibri" panose="020F0502020204030204" pitchFamily="34" charset="0"/>
              </a:rPr>
              <a:t> Only a walk past the padded band fails on the footprint; every other outcome is a typed result. Arithmetic is exact, and the taker fee is the only rounding</a:t>
            </a:r>
          </a:p>
        </p:txBody>
      </p:sp>
      <p:sp>
        <p:nvSpPr>
          <p:cNvPr id="8" name="TextBox 7">
            <a:extLst>
              <a:ext uri="{FF2B5EF4-FFF2-40B4-BE49-F238E27FC236}">
                <a16:creationId xmlns:a16="http://schemas.microsoft.com/office/drawing/2014/main" id="{D8AE71CA-6199-538F-B000-7487411454A5}"/>
              </a:ext>
            </a:extLst>
          </p:cNvPr>
          <p:cNvSpPr txBox="1"/>
          <p:nvPr/>
        </p:nvSpPr>
        <p:spPr>
          <a:xfrm>
            <a:off x="635000" y="3124200"/>
            <a:ext cx="10922000" cy="338554"/>
          </a:xfrm>
          <a:prstGeom prst="rect">
            <a:avLst/>
          </a:prstGeom>
          <a:noFill/>
        </p:spPr>
        <p:txBody>
          <a:bodyPr vert="horz" rtlCol="0">
            <a:spAutoFit/>
          </a:bodyPr>
          <a:lstStyle/>
          <a:p>
            <a:r>
              <a:rPr lang="en-US" sz="1600" dirty="0">
                <a:solidFill>
                  <a:srgbClr val="9C978A"/>
                </a:solidFill>
                <a:latin typeface="Calibri" panose="020F0502020204030204" pitchFamily="34" charset="0"/>
              </a:rPr>
              <a:t>Example: buy 35 lots with a limit of 15,805, against 20 lots resting at 15,800 and 30 at 15,805. Steps 1 to 4 in the figure.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71613"/>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828800" cy="274320"/>
          </a:xfrm>
          <a:prstGeom prst="rect">
            <a:avLst/>
          </a:prstGeom>
          <a:noFill/>
          <a:ln/>
        </p:spPr>
        <p:txBody>
          <a:bodyPr wrap="square" lIns="0" tIns="0" rIns="0" bIns="0" rtlCol="0" anchor="ctr"/>
          <a:lstStyle/>
          <a:p>
            <a:pPr marL="0" indent="0">
              <a:buNone/>
            </a:pPr>
            <a:r>
              <a:rPr lang="en-US" sz="1200">
                <a:solidFill>
                  <a:srgbClr val="9C978A"/>
                </a:solidFill>
                <a:latin typeface="Calibri" pitchFamily="34" charset="0"/>
                <a:ea typeface="Calibri" pitchFamily="34" charset="-122"/>
                <a:cs typeface="Calibri" pitchFamily="34" charset="-120"/>
              </a:rPr>
              <a:t>11</a:t>
            </a:r>
            <a:endParaRPr lang="en-US" sz="1200" dirty="0"/>
          </a:p>
        </p:txBody>
      </p:sp>
      <p:sp>
        <p:nvSpPr>
          <p:cNvPr id="3" name="Text 1"/>
          <p:cNvSpPr txBox="1"/>
          <p:nvPr/>
        </p:nvSpPr>
        <p:spPr>
          <a:xfrm>
            <a:off x="640080" y="704088"/>
            <a:ext cx="10911535" cy="731520"/>
          </a:xfrm>
          <a:prstGeom prst="rect">
            <a:avLst/>
          </a:prstGeom>
          <a:noFill/>
          <a:ln/>
        </p:spPr>
        <p:txBody>
          <a:bodyPr wrap="square" lIns="0" tIns="0" rIns="0" bIns="0" rtlCol="0" anchor="t"/>
          <a:lstStyle/>
          <a:p>
            <a:pPr marL="0" indent="0">
              <a:buNone/>
            </a:pPr>
            <a:r>
              <a:rPr lang="en-US" sz="3400" b="1" dirty="0">
                <a:solidFill>
                  <a:srgbClr val="E7E3D8"/>
                </a:solidFill>
                <a:latin typeface="Cambria" pitchFamily="34" charset="0"/>
                <a:ea typeface="Cambria" pitchFamily="34" charset="-122"/>
                <a:cs typeface="Cambria" pitchFamily="34" charset="-120"/>
              </a:rPr>
              <a:t>Putting it all together: simulate, pad, submit</a:t>
            </a:r>
            <a:endParaRPr lang="en-US" sz="3400" dirty="0"/>
          </a:p>
        </p:txBody>
      </p:sp>
      <p:sp>
        <p:nvSpPr>
          <p:cNvPr id="11" name="TextBox 10">
            <a:extLst>
              <a:ext uri="{FF2B5EF4-FFF2-40B4-BE49-F238E27FC236}">
                <a16:creationId xmlns:a16="http://schemas.microsoft.com/office/drawing/2014/main" id="{D0192EFA-CA44-FF98-DDD4-978DAFCE4A32}"/>
              </a:ext>
            </a:extLst>
          </p:cNvPr>
          <p:cNvSpPr txBox="1"/>
          <p:nvPr/>
        </p:nvSpPr>
        <p:spPr>
          <a:xfrm>
            <a:off x="635000" y="1650999"/>
            <a:ext cx="10922000" cy="3810000"/>
          </a:xfrm>
          <a:prstGeom prst="rect">
            <a:avLst/>
          </a:prstGeom>
          <a:noFill/>
        </p:spPr>
        <p:txBody>
          <a:bodyPr vert="horz" rtlCol="0">
            <a:spAutoFit/>
          </a:bodyPr>
          <a:lstStyle/>
          <a:p>
            <a:pPr marL="457200" indent="-457200">
              <a:spcAft>
                <a:spcPts val="1200"/>
              </a:spcAft>
              <a:buFont typeface="+mj-lt"/>
              <a:buChar char="•"/>
            </a:pPr>
            <a:r>
              <a:rPr lang="en-US" sz="2200" b="1">
                <a:solidFill>
                  <a:srgbClr val="E7E3D8"/>
                </a:solidFill>
                <a:latin typeface="Calibri" panose="020F0502020204030204" pitchFamily="34" charset="0"/>
              </a:rPr>
              <a:t>Simulate.</a:t>
            </a:r>
            <a:r>
              <a:rPr lang="en-US" sz="2200">
                <a:solidFill>
                  <a:srgbClr val="E7E3D8"/>
                </a:solidFill>
                <a:latin typeface="Calibri" panose="020F0502020204030204" pitchFamily="34" charset="0"/>
              </a:rPr>
              <a:t> Call quote_place() for the starting tick and the levels the walk expects to cross. Pick a nonce</a:t>
            </a:r>
          </a:p>
          <a:p>
            <a:pPr marL="457200" indent="-457200">
              <a:spcAft>
                <a:spcPts val="1200"/>
              </a:spcAft>
              <a:buFont typeface="+mj-lt"/>
              <a:buChar char="•"/>
            </a:pPr>
            <a:r>
              <a:rPr lang="en-US" sz="2200" b="1">
                <a:solidFill>
                  <a:srgbClr val="E7E3D8"/>
                </a:solidFill>
                <a:latin typeface="Calibri" panose="020F0502020204030204" pitchFamily="34" charset="0"/>
              </a:rPr>
              <a:t>Pad.</a:t>
            </a:r>
            <a:r>
              <a:rPr lang="en-US" sz="2200">
                <a:solidFill>
                  <a:srgbClr val="E7E3D8"/>
                </a:solidFill>
                <a:latin typeface="Calibri" panose="020F0502020204030204" pitchFamily="34" charset="0"/>
              </a:rPr>
              <a:t> Add to the simulated footprint what the book could need if it moves: a band of level keys around the simulated best, empty or not, and the keys a rest would touch</a:t>
            </a:r>
          </a:p>
          <a:p>
            <a:pPr marL="457200" indent="-457200">
              <a:spcAft>
                <a:spcPts val="1200"/>
              </a:spcAft>
              <a:buFont typeface="+mj-lt"/>
              <a:buChar char="•"/>
            </a:pPr>
            <a:r>
              <a:rPr lang="en-US" sz="2200" b="1">
                <a:solidFill>
                  <a:srgbClr val="E7E3D8"/>
                </a:solidFill>
                <a:latin typeface="Calibri" panose="020F0502020204030204" pitchFamily="34" charset="0"/>
              </a:rPr>
              <a:t>Submit.</a:t>
            </a:r>
            <a:r>
              <a:rPr lang="en-US" sz="2200">
                <a:solidFill>
                  <a:srgbClr val="E7E3D8"/>
                </a:solidFill>
                <a:latin typeface="Calibri" panose="020F0502020204030204" pitchFamily="34" charset="0"/>
              </a:rPr>
              <a:t> If the book moved inside the band, the transaction still runs and reports a different fill, a cap hit, or a typed error</a:t>
            </a:r>
            <a:endParaRPr lang="en-US" sz="2200" dirty="0">
              <a:solidFill>
                <a:srgbClr val="E7E3D8"/>
              </a:solidFill>
              <a:latin typeface="Calibri" panose="020F050202020403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71613"/>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828800" cy="274320"/>
          </a:xfrm>
          <a:prstGeom prst="rect">
            <a:avLst/>
          </a:prstGeom>
          <a:noFill/>
          <a:ln/>
        </p:spPr>
        <p:txBody>
          <a:bodyPr wrap="square" lIns="0" tIns="0" rIns="0" bIns="0" rtlCol="0" anchor="ctr"/>
          <a:lstStyle/>
          <a:p>
            <a:pPr marL="0" indent="0">
              <a:buNone/>
            </a:pPr>
            <a:r>
              <a:rPr lang="en-US" sz="1200">
                <a:solidFill>
                  <a:srgbClr val="9C978A"/>
                </a:solidFill>
                <a:latin typeface="Calibri" pitchFamily="34" charset="0"/>
                <a:ea typeface="Calibri" pitchFamily="34" charset="-122"/>
                <a:cs typeface="Calibri" pitchFamily="34" charset="-120"/>
              </a:rPr>
              <a:t>12</a:t>
            </a:r>
            <a:endParaRPr lang="en-US" sz="1200" dirty="0"/>
          </a:p>
        </p:txBody>
      </p:sp>
      <p:sp>
        <p:nvSpPr>
          <p:cNvPr id="3" name="Text 1"/>
          <p:cNvSpPr txBox="1"/>
          <p:nvPr/>
        </p:nvSpPr>
        <p:spPr>
          <a:xfrm>
            <a:off x="640080" y="704088"/>
            <a:ext cx="10911535" cy="731520"/>
          </a:xfrm>
          <a:prstGeom prst="rect">
            <a:avLst/>
          </a:prstGeom>
          <a:noFill/>
          <a:ln/>
        </p:spPr>
        <p:txBody>
          <a:bodyPr wrap="square" lIns="0" tIns="0" rIns="0" bIns="0" rtlCol="0" anchor="t"/>
          <a:lstStyle/>
          <a:p>
            <a:pPr marL="0" indent="0">
              <a:buNone/>
            </a:pPr>
            <a:r>
              <a:rPr lang="en-US" sz="3400" b="1" dirty="0">
                <a:solidFill>
                  <a:srgbClr val="E7E3D8"/>
                </a:solidFill>
                <a:latin typeface="Cambria" pitchFamily="34" charset="0"/>
                <a:ea typeface="Cambria" pitchFamily="34" charset="-122"/>
                <a:cs typeface="Cambria" pitchFamily="34" charset="-120"/>
              </a:rPr>
              <a:t>Results, measured on testnet</a:t>
            </a:r>
            <a:endParaRPr lang="en-US" sz="3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10908792" cy="2633472"/>
        </p:xfrm>
        <a:graphic>
          <a:graphicData uri="http://schemas.openxmlformats.org/drawingml/2006/table">
            <a:tbl>
              <a:tblPr/>
              <a:tblGrid>
                <a:gridCol w="44805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490472">
                  <a:extLst>
                    <a:ext uri="{9D8B030D-6E8A-4147-A177-3AD203B41FA5}">
                      <a16:colId xmlns:a16="http://schemas.microsoft.com/office/drawing/2014/main" val="20004"/>
                    </a:ext>
                  </a:extLst>
                </a:gridCol>
              </a:tblGrid>
              <a:tr h="329184">
                <a:tc>
                  <a:txBody>
                    <a:bodyPr/>
                    <a:lstStyle/>
                    <a:p>
                      <a:pPr marL="0" indent="0" algn="l">
                        <a:buNone/>
                      </a:pPr>
                      <a:r>
                        <a:rPr lang="en-US" sz="1200" b="1" dirty="0">
                          <a:solidFill>
                            <a:srgbClr val="9C978A"/>
                          </a:solidFill>
                          <a:latin typeface="Calibri" pitchFamily="34" charset="0"/>
                          <a:ea typeface="Calibri" pitchFamily="34" charset="-122"/>
                          <a:cs typeface="Calibri" pitchFamily="34" charset="-120"/>
                        </a:rPr>
                        <a:t>Invocation, XLM/USDC market</a:t>
                      </a:r>
                      <a:endParaRPr lang="en-US" sz="12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tc>
                  <a:txBody>
                    <a:bodyPr/>
                    <a:lstStyle/>
                    <a:p>
                      <a:pPr marL="0" indent="0" algn="r">
                        <a:buNone/>
                      </a:pPr>
                      <a:r>
                        <a:rPr lang="en-US" sz="1200" b="1" dirty="0">
                          <a:solidFill>
                            <a:srgbClr val="9C978A"/>
                          </a:solidFill>
                          <a:latin typeface="Calibri" pitchFamily="34" charset="0"/>
                          <a:ea typeface="Calibri" pitchFamily="34" charset="-122"/>
                          <a:cs typeface="Calibri" pitchFamily="34" charset="-120"/>
                        </a:rPr>
                        <a:t>RW entries</a:t>
                      </a:r>
                      <a:endParaRPr lang="en-US" sz="12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tc>
                  <a:txBody>
                    <a:bodyPr/>
                    <a:lstStyle/>
                    <a:p>
                      <a:pPr marL="0" indent="0" algn="r">
                        <a:buNone/>
                      </a:pPr>
                      <a:r>
                        <a:rPr lang="en-US" sz="1200" b="1" dirty="0">
                          <a:solidFill>
                            <a:srgbClr val="9C978A"/>
                          </a:solidFill>
                          <a:latin typeface="Calibri" pitchFamily="34" charset="0"/>
                          <a:ea typeface="Calibri" pitchFamily="34" charset="-122"/>
                          <a:cs typeface="Calibri" pitchFamily="34" charset="-120"/>
                        </a:rPr>
                        <a:t>Instructions</a:t>
                      </a:r>
                      <a:endParaRPr lang="en-US" sz="12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tc>
                  <a:txBody>
                    <a:bodyPr/>
                    <a:lstStyle/>
                    <a:p>
                      <a:pPr marL="0" indent="0" algn="r">
                        <a:buNone/>
                      </a:pPr>
                      <a:r>
                        <a:rPr lang="en-US" sz="1200" b="1" dirty="0">
                          <a:solidFill>
                            <a:srgbClr val="9C978A"/>
                          </a:solidFill>
                          <a:latin typeface="Calibri" pitchFamily="34" charset="0"/>
                          <a:ea typeface="Calibri" pitchFamily="34" charset="-122"/>
                          <a:cs typeface="Calibri" pitchFamily="34" charset="-120"/>
                        </a:rPr>
                        <a:t>Write KB declared</a:t>
                      </a:r>
                      <a:endParaRPr lang="en-US" sz="12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tc>
                  <a:txBody>
                    <a:bodyPr/>
                    <a:lstStyle/>
                    <a:p>
                      <a:pPr marL="0" indent="0" algn="r">
                        <a:buNone/>
                      </a:pPr>
                      <a:r>
                        <a:rPr lang="en-US" sz="1200" b="1" dirty="0">
                          <a:solidFill>
                            <a:srgbClr val="9C978A"/>
                          </a:solidFill>
                          <a:latin typeface="Calibri" pitchFamily="34" charset="0"/>
                          <a:ea typeface="Calibri" pitchFamily="34" charset="-122"/>
                          <a:cs typeface="Calibri" pitchFamily="34" charset="-120"/>
                        </a:rPr>
                        <a:t>Fee charged</a:t>
                      </a:r>
                      <a:endParaRPr lang="en-US" sz="12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extLst>
                  <a:ext uri="{0D108BD9-81ED-4DB2-BD59-A6C34878D82A}">
                    <a16:rowId xmlns:a16="http://schemas.microsoft.com/office/drawing/2014/main" val="10000"/>
                  </a:ext>
                </a:extLst>
              </a:tr>
              <a:tr h="329184">
                <a:tc>
                  <a:txBody>
                    <a:bodyPr/>
                    <a:lstStyle/>
                    <a:p>
                      <a:pPr marL="0" indent="0" algn="l">
                        <a:buNone/>
                      </a:pPr>
                      <a:r>
                        <a:rPr lang="en-US" sz="1500" dirty="0">
                          <a:solidFill>
                            <a:srgbClr val="E7E3D8"/>
                          </a:solidFill>
                          <a:latin typeface="Calibri" pitchFamily="34" charset="0"/>
                          <a:ea typeface="Calibri" pitchFamily="34" charset="-122"/>
                          <a:cs typeface="Calibri" pitchFamily="34" charset="-120"/>
                        </a:rPr>
                        <a:t>Rest a maker quote</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tc>
                  <a:txBody>
                    <a:bodyPr/>
                    <a:lstStyle/>
                    <a:p>
                      <a:pPr marL="0" indent="0" algn="r">
                        <a:buNone/>
                      </a:pPr>
                      <a:r>
                        <a:rPr lang="en-US" sz="1500" dirty="0">
                          <a:solidFill>
                            <a:srgbClr val="E7E3D8"/>
                          </a:solidFill>
                          <a:latin typeface="Calibri" pitchFamily="34" charset="0"/>
                          <a:ea typeface="Calibri" pitchFamily="34" charset="-122"/>
                          <a:cs typeface="Calibri" pitchFamily="34" charset="-120"/>
                        </a:rPr>
                        <a:t>16</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tc>
                  <a:txBody>
                    <a:bodyPr/>
                    <a:lstStyle/>
                    <a:p>
                      <a:pPr marL="0" indent="0" algn="r">
                        <a:buNone/>
                      </a:pPr>
                      <a:r>
                        <a:rPr lang="en-US" sz="1500" dirty="0">
                          <a:solidFill>
                            <a:srgbClr val="E7E3D8"/>
                          </a:solidFill>
                          <a:latin typeface="Calibri" pitchFamily="34" charset="0"/>
                          <a:ea typeface="Calibri" pitchFamily="34" charset="-122"/>
                          <a:cs typeface="Calibri" pitchFamily="34" charset="-120"/>
                        </a:rPr>
                        <a:t>3.0M</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tc>
                  <a:txBody>
                    <a:bodyPr/>
                    <a:lstStyle/>
                    <a:p>
                      <a:pPr marL="0" indent="0" algn="r">
                        <a:buNone/>
                      </a:pPr>
                      <a:r>
                        <a:rPr lang="en-US" sz="1500" dirty="0">
                          <a:solidFill>
                            <a:srgbClr val="E7E3D8"/>
                          </a:solidFill>
                          <a:latin typeface="Calibri" pitchFamily="34" charset="0"/>
                          <a:ea typeface="Calibri" pitchFamily="34" charset="-122"/>
                          <a:cs typeface="Calibri" pitchFamily="34" charset="-120"/>
                        </a:rPr>
                        <a:t>7.8</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tc>
                  <a:txBody>
                    <a:bodyPr/>
                    <a:lstStyle/>
                    <a:p>
                      <a:pPr marL="0" indent="0" algn="r">
                        <a:buNone/>
                      </a:pPr>
                      <a:r>
                        <a:rPr lang="en-US" sz="1500" dirty="0">
                          <a:solidFill>
                            <a:srgbClr val="E7E3D8"/>
                          </a:solidFill>
                          <a:latin typeface="Calibri" pitchFamily="34" charset="0"/>
                          <a:ea typeface="Calibri" pitchFamily="34" charset="-122"/>
                          <a:cs typeface="Calibri" pitchFamily="34" charset="-120"/>
                        </a:rPr>
                        <a:t>0.014 XLM</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extLst>
                  <a:ext uri="{0D108BD9-81ED-4DB2-BD59-A6C34878D82A}">
                    <a16:rowId xmlns:a16="http://schemas.microsoft.com/office/drawing/2014/main" val="10001"/>
                  </a:ext>
                </a:extLst>
              </a:tr>
              <a:tr h="329184">
                <a:tc>
                  <a:txBody>
                    <a:bodyPr/>
                    <a:lstStyle/>
                    <a:p>
                      <a:pPr marL="0" indent="0" algn="l">
                        <a:buNone/>
                      </a:pPr>
                      <a:r>
                        <a:rPr lang="en-US" sz="1500" dirty="0">
                          <a:solidFill>
                            <a:srgbClr val="E7E3D8"/>
                          </a:solidFill>
                          <a:latin typeface="Calibri" pitchFamily="34" charset="0"/>
                          <a:ea typeface="Calibri" pitchFamily="34" charset="-122"/>
                          <a:cs typeface="Calibri" pitchFamily="34" charset="-120"/>
                        </a:rPr>
                        <a:t>Replace one quote</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tc>
                  <a:txBody>
                    <a:bodyPr/>
                    <a:lstStyle/>
                    <a:p>
                      <a:pPr marL="0" indent="0" algn="r">
                        <a:buNone/>
                      </a:pPr>
                      <a:r>
                        <a:rPr lang="en-US" sz="1500" dirty="0">
                          <a:solidFill>
                            <a:srgbClr val="E7E3D8"/>
                          </a:solidFill>
                          <a:latin typeface="Calibri" pitchFamily="34" charset="0"/>
                          <a:ea typeface="Calibri" pitchFamily="34" charset="-122"/>
                          <a:cs typeface="Calibri" pitchFamily="34" charset="-120"/>
                        </a:rPr>
                        <a:t>17</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tc>
                  <a:txBody>
                    <a:bodyPr/>
                    <a:lstStyle/>
                    <a:p>
                      <a:pPr marL="0" indent="0" algn="r">
                        <a:buNone/>
                      </a:pPr>
                      <a:r>
                        <a:rPr lang="en-US" sz="1500" dirty="0">
                          <a:solidFill>
                            <a:srgbClr val="E7E3D8"/>
                          </a:solidFill>
                          <a:latin typeface="Calibri" pitchFamily="34" charset="0"/>
                          <a:ea typeface="Calibri" pitchFamily="34" charset="-122"/>
                          <a:cs typeface="Calibri" pitchFamily="34" charset="-120"/>
                        </a:rPr>
                        <a:t>3.4M</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tc>
                  <a:txBody>
                    <a:bodyPr/>
                    <a:lstStyle/>
                    <a:p>
                      <a:pPr marL="0" indent="0" algn="r">
                        <a:buNone/>
                      </a:pPr>
                      <a:r>
                        <a:rPr lang="en-US" sz="1500" dirty="0">
                          <a:solidFill>
                            <a:srgbClr val="E7E3D8"/>
                          </a:solidFill>
                          <a:latin typeface="Calibri" pitchFamily="34" charset="0"/>
                          <a:ea typeface="Calibri" pitchFamily="34" charset="-122"/>
                          <a:cs typeface="Calibri" pitchFamily="34" charset="-120"/>
                        </a:rPr>
                        <a:t>8.4</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tc>
                  <a:txBody>
                    <a:bodyPr/>
                    <a:lstStyle/>
                    <a:p>
                      <a:pPr marL="0" indent="0" algn="r">
                        <a:buNone/>
                      </a:pPr>
                      <a:r>
                        <a:rPr lang="en-US" sz="1500" dirty="0">
                          <a:solidFill>
                            <a:srgbClr val="E7E3D8"/>
                          </a:solidFill>
                          <a:latin typeface="Calibri" pitchFamily="34" charset="0"/>
                          <a:ea typeface="Calibri" pitchFamily="34" charset="-122"/>
                          <a:cs typeface="Calibri" pitchFamily="34" charset="-120"/>
                        </a:rPr>
                        <a:t>0.008 XLM</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extLst>
                  <a:ext uri="{0D108BD9-81ED-4DB2-BD59-A6C34878D82A}">
                    <a16:rowId xmlns:a16="http://schemas.microsoft.com/office/drawing/2014/main" val="10002"/>
                  </a:ext>
                </a:extLst>
              </a:tr>
              <a:tr h="329184">
                <a:tc>
                  <a:txBody>
                    <a:bodyPr/>
                    <a:lstStyle/>
                    <a:p>
                      <a:pPr marL="0" indent="0" algn="l">
                        <a:buNone/>
                      </a:pPr>
                      <a:r>
                        <a:rPr lang="en-US" sz="1500" dirty="0">
                          <a:solidFill>
                            <a:srgbClr val="E7E3D8"/>
                          </a:solidFill>
                          <a:latin typeface="Calibri" pitchFamily="34" charset="0"/>
                          <a:ea typeface="Calibri" pitchFamily="34" charset="-122"/>
                          <a:cs typeface="Calibri" pitchFamily="34" charset="-120"/>
                        </a:rPr>
                        <a:t>Replace 8 quotes in one batch</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tc>
                  <a:txBody>
                    <a:bodyPr/>
                    <a:lstStyle/>
                    <a:p>
                      <a:pPr marL="0" indent="0" algn="r">
                        <a:buNone/>
                      </a:pPr>
                      <a:r>
                        <a:rPr lang="en-US" sz="1500" dirty="0">
                          <a:solidFill>
                            <a:srgbClr val="E7E3D8"/>
                          </a:solidFill>
                          <a:latin typeface="Calibri" pitchFamily="34" charset="0"/>
                          <a:ea typeface="Calibri" pitchFamily="34" charset="-122"/>
                          <a:cs typeface="Calibri" pitchFamily="34" charset="-120"/>
                        </a:rPr>
                        <a:t>52</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tc>
                  <a:txBody>
                    <a:bodyPr/>
                    <a:lstStyle/>
                    <a:p>
                      <a:pPr marL="0" indent="0" algn="r">
                        <a:buNone/>
                      </a:pPr>
                      <a:r>
                        <a:rPr lang="en-US" sz="1500" dirty="0">
                          <a:solidFill>
                            <a:srgbClr val="E7E3D8"/>
                          </a:solidFill>
                          <a:latin typeface="Calibri" pitchFamily="34" charset="0"/>
                          <a:ea typeface="Calibri" pitchFamily="34" charset="-122"/>
                          <a:cs typeface="Calibri" pitchFamily="34" charset="-120"/>
                        </a:rPr>
                        <a:t>11.8M</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tc>
                  <a:txBody>
                    <a:bodyPr/>
                    <a:lstStyle/>
                    <a:p>
                      <a:pPr marL="0" indent="0" algn="r">
                        <a:buNone/>
                      </a:pPr>
                      <a:r>
                        <a:rPr lang="en-US" sz="1500" dirty="0">
                          <a:solidFill>
                            <a:srgbClr val="E7E3D8"/>
                          </a:solidFill>
                          <a:latin typeface="Calibri" pitchFamily="34" charset="0"/>
                          <a:ea typeface="Calibri" pitchFamily="34" charset="-122"/>
                          <a:cs typeface="Calibri" pitchFamily="34" charset="-120"/>
                        </a:rPr>
                        <a:t>24.1</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tc>
                  <a:txBody>
                    <a:bodyPr/>
                    <a:lstStyle/>
                    <a:p>
                      <a:pPr marL="0" indent="0" algn="r">
                        <a:buNone/>
                      </a:pPr>
                      <a:r>
                        <a:rPr lang="en-US" sz="1500" dirty="0">
                          <a:solidFill>
                            <a:srgbClr val="E7E3D8"/>
                          </a:solidFill>
                          <a:latin typeface="Calibri" pitchFamily="34" charset="0"/>
                          <a:ea typeface="Calibri" pitchFamily="34" charset="-122"/>
                          <a:cs typeface="Calibri" pitchFamily="34" charset="-120"/>
                        </a:rPr>
                        <a:t>0.023 XLM</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extLst>
                  <a:ext uri="{0D108BD9-81ED-4DB2-BD59-A6C34878D82A}">
                    <a16:rowId xmlns:a16="http://schemas.microsoft.com/office/drawing/2014/main" val="10003"/>
                  </a:ext>
                </a:extLst>
              </a:tr>
              <a:tr h="329184">
                <a:tc>
                  <a:txBody>
                    <a:bodyPr/>
                    <a:lstStyle/>
                    <a:p>
                      <a:pPr marL="0" indent="0" algn="l">
                        <a:buNone/>
                      </a:pPr>
                      <a:r>
                        <a:rPr lang="en-US" sz="1500" dirty="0">
                          <a:solidFill>
                            <a:srgbClr val="E7E3D8"/>
                          </a:solidFill>
                          <a:latin typeface="Calibri" pitchFamily="34" charset="0"/>
                          <a:ea typeface="Calibri" pitchFamily="34" charset="-122"/>
                          <a:cs typeface="Calibri" pitchFamily="34" charset="-120"/>
                        </a:rPr>
                        <a:t>Settle a maker order</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tc>
                  <a:txBody>
                    <a:bodyPr/>
                    <a:lstStyle/>
                    <a:p>
                      <a:pPr marL="0" indent="0" algn="r">
                        <a:buNone/>
                      </a:pPr>
                      <a:r>
                        <a:rPr lang="en-US" sz="1500" dirty="0">
                          <a:solidFill>
                            <a:srgbClr val="E7E3D8"/>
                          </a:solidFill>
                          <a:latin typeface="Calibri" pitchFamily="34" charset="0"/>
                          <a:ea typeface="Calibri" pitchFamily="34" charset="-122"/>
                          <a:cs typeface="Calibri" pitchFamily="34" charset="-120"/>
                        </a:rPr>
                        <a:t>11</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tc>
                  <a:txBody>
                    <a:bodyPr/>
                    <a:lstStyle/>
                    <a:p>
                      <a:pPr marL="0" indent="0" algn="r">
                        <a:buNone/>
                      </a:pPr>
                      <a:r>
                        <a:rPr lang="en-US" sz="1500" dirty="0">
                          <a:solidFill>
                            <a:srgbClr val="E7E3D8"/>
                          </a:solidFill>
                          <a:latin typeface="Calibri" pitchFamily="34" charset="0"/>
                          <a:ea typeface="Calibri" pitchFamily="34" charset="-122"/>
                          <a:cs typeface="Calibri" pitchFamily="34" charset="-120"/>
                        </a:rPr>
                        <a:t>2.5M</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tc>
                  <a:txBody>
                    <a:bodyPr/>
                    <a:lstStyle/>
                    <a:p>
                      <a:pPr marL="0" indent="0" algn="r">
                        <a:buNone/>
                      </a:pPr>
                      <a:r>
                        <a:rPr lang="en-US" sz="1500" dirty="0">
                          <a:solidFill>
                            <a:srgbClr val="E7E3D8"/>
                          </a:solidFill>
                          <a:latin typeface="Calibri" pitchFamily="34" charset="0"/>
                          <a:ea typeface="Calibri" pitchFamily="34" charset="-122"/>
                          <a:cs typeface="Calibri" pitchFamily="34" charset="-120"/>
                        </a:rPr>
                        <a:t>5.0</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tc>
                  <a:txBody>
                    <a:bodyPr/>
                    <a:lstStyle/>
                    <a:p>
                      <a:pPr marL="0" indent="0" algn="r">
                        <a:buNone/>
                      </a:pPr>
                      <a:r>
                        <a:rPr lang="en-US" sz="1500" dirty="0">
                          <a:solidFill>
                            <a:srgbClr val="E7E3D8"/>
                          </a:solidFill>
                          <a:latin typeface="Calibri" pitchFamily="34" charset="0"/>
                          <a:ea typeface="Calibri" pitchFamily="34" charset="-122"/>
                          <a:cs typeface="Calibri" pitchFamily="34" charset="-120"/>
                        </a:rPr>
                        <a:t>0.005 XLM</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extLst>
                  <a:ext uri="{0D108BD9-81ED-4DB2-BD59-A6C34878D82A}">
                    <a16:rowId xmlns:a16="http://schemas.microsoft.com/office/drawing/2014/main" val="10004"/>
                  </a:ext>
                </a:extLst>
              </a:tr>
              <a:tr h="329184">
                <a:tc>
                  <a:txBody>
                    <a:bodyPr/>
                    <a:lstStyle/>
                    <a:p>
                      <a:pPr marL="0" indent="0" algn="l">
                        <a:buNone/>
                      </a:pPr>
                      <a:r>
                        <a:rPr lang="en-US" sz="1500" dirty="0">
                          <a:solidFill>
                            <a:srgbClr val="E7E3D8"/>
                          </a:solidFill>
                          <a:latin typeface="Calibri" pitchFamily="34" charset="0"/>
                          <a:ea typeface="Calibri" pitchFamily="34" charset="-122"/>
                          <a:cs typeface="Calibri" pitchFamily="34" charset="-120"/>
                        </a:rPr>
                        <a:t>Take at the touch, 1 level</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tc>
                  <a:txBody>
                    <a:bodyPr/>
                    <a:lstStyle/>
                    <a:p>
                      <a:pPr marL="0" indent="0" algn="r">
                        <a:buNone/>
                      </a:pPr>
                      <a:r>
                        <a:rPr lang="en-US" sz="1500" dirty="0">
                          <a:solidFill>
                            <a:srgbClr val="E7E3D8"/>
                          </a:solidFill>
                          <a:latin typeface="Calibri" pitchFamily="34" charset="0"/>
                          <a:ea typeface="Calibri" pitchFamily="34" charset="-122"/>
                          <a:cs typeface="Calibri" pitchFamily="34" charset="-120"/>
                        </a:rPr>
                        <a:t>21</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tc>
                  <a:txBody>
                    <a:bodyPr/>
                    <a:lstStyle/>
                    <a:p>
                      <a:pPr marL="0" indent="0" algn="r">
                        <a:buNone/>
                      </a:pPr>
                      <a:r>
                        <a:rPr lang="en-US" sz="1500" dirty="0">
                          <a:solidFill>
                            <a:srgbClr val="E7E3D8"/>
                          </a:solidFill>
                          <a:latin typeface="Calibri" pitchFamily="34" charset="0"/>
                          <a:ea typeface="Calibri" pitchFamily="34" charset="-122"/>
                          <a:cs typeface="Calibri" pitchFamily="34" charset="-120"/>
                        </a:rPr>
                        <a:t>3.3M</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tc>
                  <a:txBody>
                    <a:bodyPr/>
                    <a:lstStyle/>
                    <a:p>
                      <a:pPr marL="0" indent="0" algn="r">
                        <a:buNone/>
                      </a:pPr>
                      <a:r>
                        <a:rPr lang="en-US" sz="1500" dirty="0">
                          <a:solidFill>
                            <a:srgbClr val="E7E3D8"/>
                          </a:solidFill>
                          <a:latin typeface="Calibri" pitchFamily="34" charset="0"/>
                          <a:ea typeface="Calibri" pitchFamily="34" charset="-122"/>
                          <a:cs typeface="Calibri" pitchFamily="34" charset="-120"/>
                        </a:rPr>
                        <a:t>10.8</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tc>
                  <a:txBody>
                    <a:bodyPr/>
                    <a:lstStyle/>
                    <a:p>
                      <a:pPr marL="0" indent="0" algn="r">
                        <a:buNone/>
                      </a:pPr>
                      <a:r>
                        <a:rPr lang="en-US" sz="1500" dirty="0">
                          <a:solidFill>
                            <a:srgbClr val="E7E3D8"/>
                          </a:solidFill>
                          <a:latin typeface="Calibri" pitchFamily="34" charset="0"/>
                          <a:ea typeface="Calibri" pitchFamily="34" charset="-122"/>
                          <a:cs typeface="Calibri" pitchFamily="34" charset="-120"/>
                        </a:rPr>
                        <a:t>0.009 XLM</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extLst>
                  <a:ext uri="{0D108BD9-81ED-4DB2-BD59-A6C34878D82A}">
                    <a16:rowId xmlns:a16="http://schemas.microsoft.com/office/drawing/2014/main" val="10005"/>
                  </a:ext>
                </a:extLst>
              </a:tr>
              <a:tr h="329184">
                <a:tc>
                  <a:txBody>
                    <a:bodyPr/>
                    <a:lstStyle/>
                    <a:p>
                      <a:pPr marL="0" indent="0" algn="l">
                        <a:buNone/>
                      </a:pPr>
                      <a:r>
                        <a:rPr lang="en-US" sz="1500" dirty="0">
                          <a:solidFill>
                            <a:srgbClr val="E7E3D8"/>
                          </a:solidFill>
                          <a:latin typeface="Calibri" pitchFamily="34" charset="0"/>
                          <a:ea typeface="Calibri" pitchFamily="34" charset="-122"/>
                          <a:cs typeface="Calibri" pitchFamily="34" charset="-120"/>
                        </a:rPr>
                        <a:t>Take across 4 to 6 levels</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tc>
                  <a:txBody>
                    <a:bodyPr/>
                    <a:lstStyle/>
                    <a:p>
                      <a:pPr marL="0" indent="0" algn="r">
                        <a:buNone/>
                      </a:pPr>
                      <a:r>
                        <a:rPr lang="en-US" sz="1500" dirty="0">
                          <a:solidFill>
                            <a:srgbClr val="E7E3D8"/>
                          </a:solidFill>
                          <a:latin typeface="Calibri" pitchFamily="34" charset="0"/>
                          <a:ea typeface="Calibri" pitchFamily="34" charset="-122"/>
                          <a:cs typeface="Calibri" pitchFamily="34" charset="-120"/>
                        </a:rPr>
                        <a:t>57</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tc>
                  <a:txBody>
                    <a:bodyPr/>
                    <a:lstStyle/>
                    <a:p>
                      <a:pPr marL="0" indent="0" algn="r">
                        <a:buNone/>
                      </a:pPr>
                      <a:r>
                        <a:rPr lang="en-US" sz="1500" dirty="0">
                          <a:solidFill>
                            <a:srgbClr val="E7E3D8"/>
                          </a:solidFill>
                          <a:latin typeface="Calibri" pitchFamily="34" charset="0"/>
                          <a:ea typeface="Calibri" pitchFamily="34" charset="-122"/>
                          <a:cs typeface="Calibri" pitchFamily="34" charset="-120"/>
                        </a:rPr>
                        <a:t>8.7M</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tc>
                  <a:txBody>
                    <a:bodyPr/>
                    <a:lstStyle/>
                    <a:p>
                      <a:pPr marL="0" indent="0" algn="r">
                        <a:buNone/>
                      </a:pPr>
                      <a:r>
                        <a:rPr lang="en-US" sz="1500" dirty="0">
                          <a:solidFill>
                            <a:srgbClr val="E7E3D8"/>
                          </a:solidFill>
                          <a:latin typeface="Calibri" pitchFamily="34" charset="0"/>
                          <a:ea typeface="Calibri" pitchFamily="34" charset="-122"/>
                          <a:cs typeface="Calibri" pitchFamily="34" charset="-120"/>
                        </a:rPr>
                        <a:t>30.5</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tc>
                  <a:txBody>
                    <a:bodyPr/>
                    <a:lstStyle/>
                    <a:p>
                      <a:pPr marL="0" indent="0" algn="r">
                        <a:buNone/>
                      </a:pPr>
                      <a:r>
                        <a:rPr lang="en-US" sz="1500" dirty="0">
                          <a:solidFill>
                            <a:srgbClr val="E7E3D8"/>
                          </a:solidFill>
                          <a:latin typeface="Calibri" pitchFamily="34" charset="0"/>
                          <a:ea typeface="Calibri" pitchFamily="34" charset="-122"/>
                          <a:cs typeface="Calibri" pitchFamily="34" charset="-120"/>
                        </a:rPr>
                        <a:t>0.024 XLM</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extLst>
                  <a:ext uri="{0D108BD9-81ED-4DB2-BD59-A6C34878D82A}">
                    <a16:rowId xmlns:a16="http://schemas.microsoft.com/office/drawing/2014/main" val="10006"/>
                  </a:ext>
                </a:extLst>
              </a:tr>
              <a:tr h="329184">
                <a:tc>
                  <a:txBody>
                    <a:bodyPr/>
                    <a:lstStyle/>
                    <a:p>
                      <a:pPr marL="0" indent="0" algn="l">
                        <a:buNone/>
                      </a:pPr>
                      <a:r>
                        <a:rPr lang="en-US" sz="1500" b="1" dirty="0">
                          <a:solidFill>
                            <a:srgbClr val="E7E3D8"/>
                          </a:solidFill>
                          <a:latin typeface="Calibri" pitchFamily="34" charset="0"/>
                          <a:ea typeface="Calibri" pitchFamily="34" charset="-122"/>
                          <a:cs typeface="Calibri" pitchFamily="34" charset="-120"/>
                        </a:rPr>
                        <a:t>Maximum take, 32 levels</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tc>
                  <a:txBody>
                    <a:bodyPr/>
                    <a:lstStyle/>
                    <a:p>
                      <a:pPr marL="0" indent="0" algn="r">
                        <a:buNone/>
                      </a:pPr>
                      <a:r>
                        <a:rPr lang="en-US" sz="1500" b="1" dirty="0">
                          <a:solidFill>
                            <a:srgbClr val="E7E3D8"/>
                          </a:solidFill>
                          <a:latin typeface="Calibri" pitchFamily="34" charset="0"/>
                          <a:ea typeface="Calibri" pitchFamily="34" charset="-122"/>
                          <a:cs typeface="Calibri" pitchFamily="34" charset="-120"/>
                        </a:rPr>
                        <a:t>77</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tc>
                  <a:txBody>
                    <a:bodyPr/>
                    <a:lstStyle/>
                    <a:p>
                      <a:pPr marL="0" indent="0" algn="r">
                        <a:buNone/>
                      </a:pPr>
                      <a:r>
                        <a:rPr lang="en-US" sz="1500" b="1" dirty="0">
                          <a:solidFill>
                            <a:srgbClr val="E7E3D8"/>
                          </a:solidFill>
                          <a:latin typeface="Calibri" pitchFamily="34" charset="0"/>
                          <a:ea typeface="Calibri" pitchFamily="34" charset="-122"/>
                          <a:cs typeface="Calibri" pitchFamily="34" charset="-120"/>
                        </a:rPr>
                        <a:t>18.7M</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tc>
                  <a:txBody>
                    <a:bodyPr/>
                    <a:lstStyle/>
                    <a:p>
                      <a:pPr marL="0" indent="0" algn="r">
                        <a:buNone/>
                      </a:pPr>
                      <a:r>
                        <a:rPr lang="en-US" sz="1500" b="1" dirty="0">
                          <a:solidFill>
                            <a:srgbClr val="E7E3D8"/>
                          </a:solidFill>
                          <a:latin typeface="Calibri" pitchFamily="34" charset="0"/>
                          <a:ea typeface="Calibri" pitchFamily="34" charset="-122"/>
                          <a:cs typeface="Calibri" pitchFamily="34" charset="-120"/>
                        </a:rPr>
                        <a:t>38.6</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tc>
                  <a:txBody>
                    <a:bodyPr/>
                    <a:lstStyle/>
                    <a:p>
                      <a:pPr marL="0" indent="0" algn="r">
                        <a:buNone/>
                      </a:pPr>
                      <a:r>
                        <a:rPr lang="en-US" sz="1500" b="1" dirty="0">
                          <a:solidFill>
                            <a:srgbClr val="E7E3D8"/>
                          </a:solidFill>
                          <a:latin typeface="Calibri" pitchFamily="34" charset="0"/>
                          <a:ea typeface="Calibri" pitchFamily="34" charset="-122"/>
                          <a:cs typeface="Calibri" pitchFamily="34" charset="-120"/>
                        </a:rPr>
                        <a:t>0.036 XLM</a:t>
                      </a:r>
                      <a:endParaRPr lang="en-US" sz="1500" dirty="0">
                        <a:latin typeface="Calibri" charset="0"/>
                        <a:ea typeface="Calibri" charset="0"/>
                        <a:cs typeface="Calibri" charset="0"/>
                      </a:endParaRPr>
                    </a:p>
                  </a:txBody>
                  <a:tcPr marL="0" marR="76200" marT="38100" marB="38100">
                    <a:lnL w="0" cap="flat" cmpd="sng" algn="ctr">
                      <a:noFill/>
                    </a:lnL>
                    <a:lnR w="0" cap="flat" cmpd="sng" algn="ctr">
                      <a:noFill/>
                    </a:lnR>
                    <a:lnT w="6350" cap="flat" cmpd="sng" algn="ctr">
                      <a:solidFill>
                        <a:srgbClr val="35332C"/>
                      </a:solidFill>
                      <a:prstDash val="solid"/>
                      <a:round/>
                      <a:headEnd type="none" w="med" len="med"/>
                      <a:tailEnd type="none" w="med" len="med"/>
                    </a:lnT>
                    <a:lnB w="6350" cap="flat" cmpd="sng" algn="ctr">
                      <a:solidFill>
                        <a:srgbClr val="35332C"/>
                      </a:solidFill>
                      <a:prstDash val="solid"/>
                      <a:round/>
                      <a:headEnd type="none" w="med" len="med"/>
                      <a:tailEnd type="none" w="med" len="med"/>
                    </a:lnB>
                    <a:solidFill>
                      <a:srgbClr val="171613"/>
                    </a:solidFill>
                  </a:tcPr>
                </a:tc>
                <a:extLst>
                  <a:ext uri="{0D108BD9-81ED-4DB2-BD59-A6C34878D82A}">
                    <a16:rowId xmlns:a16="http://schemas.microsoft.com/office/drawing/2014/main" val="10007"/>
                  </a:ext>
                </a:extLst>
              </a:tr>
            </a:tbl>
          </a:graphicData>
        </a:graphic>
      </p:graphicFrame>
      <p:sp>
        <p:nvSpPr>
          <p:cNvPr id="5" name="Text 2"/>
          <p:cNvSpPr txBox="1"/>
          <p:nvPr/>
        </p:nvSpPr>
        <p:spPr>
          <a:xfrm>
            <a:off x="640080" y="4553712"/>
            <a:ext cx="10911535" cy="146304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E7E3D8"/>
                </a:solidFill>
                <a:latin typeface="Calibri" pitchFamily="34" charset="0"/>
                <a:ea typeface="Calibri" pitchFamily="34" charset="-122"/>
                <a:cs typeface="Calibri" pitchFamily="34" charset="-120"/>
              </a:rPr>
              <a:t>Maker paths are flat: rest, replace, and settle never walk, so their footprints are functions of the arguments alone</a:t>
            </a:r>
            <a:endParaRPr lang="en-US" sz="1500" dirty="0"/>
          </a:p>
          <a:p>
            <a:pPr marL="228600" indent="-228600">
              <a:spcAft>
                <a:spcPts val="1000"/>
              </a:spcAft>
              <a:buSzPct val="100000"/>
              <a:buChar char="•"/>
            </a:pPr>
            <a:r>
              <a:rPr lang="en-US" sz="1500" dirty="0">
                <a:solidFill>
                  <a:srgbClr val="E7E3D8"/>
                </a:solidFill>
                <a:latin typeface="Calibri" pitchFamily="34" charset="0"/>
                <a:ea typeface="Calibri" pitchFamily="34" charset="-122"/>
                <a:cs typeface="Calibri" pitchFamily="34" charset="-120"/>
              </a:rPr>
              <a:t>The heaviest legal take uses under a third of every per-transaction cap. Ledger write bytes bind first: four deep takes fill a ledger, and under saturation the chain sat at 97% of write bytes with instructions at 55%</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71613"/>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828800" cy="274320"/>
          </a:xfrm>
          <a:prstGeom prst="rect">
            <a:avLst/>
          </a:prstGeom>
          <a:noFill/>
          <a:ln/>
        </p:spPr>
        <p:txBody>
          <a:bodyPr wrap="square" lIns="0" tIns="0" rIns="0" bIns="0" rtlCol="0" anchor="ctr"/>
          <a:lstStyle/>
          <a:p>
            <a:pPr marL="0" indent="0">
              <a:buNone/>
            </a:pPr>
            <a:r>
              <a:rPr lang="en-US" sz="1200">
                <a:solidFill>
                  <a:srgbClr val="9C978A"/>
                </a:solidFill>
                <a:latin typeface="Calibri" pitchFamily="34" charset="0"/>
                <a:ea typeface="Calibri" pitchFamily="34" charset="-122"/>
                <a:cs typeface="Calibri" pitchFamily="34" charset="-120"/>
              </a:rPr>
              <a:t>13</a:t>
            </a:r>
            <a:endParaRPr lang="en-US" sz="1200" dirty="0"/>
          </a:p>
        </p:txBody>
      </p:sp>
      <p:sp>
        <p:nvSpPr>
          <p:cNvPr id="3" name="Text 1"/>
          <p:cNvSpPr txBox="1"/>
          <p:nvPr/>
        </p:nvSpPr>
        <p:spPr>
          <a:xfrm>
            <a:off x="640080" y="704088"/>
            <a:ext cx="10911535" cy="731520"/>
          </a:xfrm>
          <a:prstGeom prst="rect">
            <a:avLst/>
          </a:prstGeom>
          <a:noFill/>
          <a:ln/>
        </p:spPr>
        <p:txBody>
          <a:bodyPr wrap="square" lIns="0" tIns="0" rIns="0" bIns="0" rtlCol="0" anchor="t"/>
          <a:lstStyle/>
          <a:p>
            <a:pPr marL="0" indent="0">
              <a:buNone/>
            </a:pPr>
            <a:r>
              <a:rPr lang="en-US" sz="3400" b="1">
                <a:solidFill>
                  <a:srgbClr val="E7E3D8"/>
                </a:solidFill>
                <a:latin typeface="Cambria" pitchFamily="34" charset="0"/>
                <a:ea typeface="Cambria" pitchFamily="34" charset="-122"/>
                <a:cs typeface="Cambria" pitchFamily="34" charset="-120"/>
              </a:rPr>
              <a:t>Quantization today: linear ticks</a:t>
            </a:r>
            <a:endParaRPr lang="en-US" sz="3400" dirty="0"/>
          </a:p>
        </p:txBody>
      </p:sp>
      <p:pic>
        <p:nvPicPr>
          <p:cNvPr id="4" name="Image 0" descr="fig/fig14.png"/>
          <p:cNvPicPr>
            <a:picLocks noChangeAspect="1"/>
          </p:cNvPicPr>
          <p:nvPr/>
        </p:nvPicPr>
        <p:blipFill>
          <a:blip r:embed="rId3"/>
          <a:stretch>
            <a:fillRect/>
          </a:stretch>
        </p:blipFill>
        <p:spPr>
          <a:xfrm>
            <a:off x="640080" y="4445000"/>
            <a:ext cx="10911535" cy="1625122"/>
          </a:xfrm>
          <a:prstGeom prst="rect">
            <a:avLst/>
          </a:prstGeom>
        </p:spPr>
      </p:pic>
      <p:sp>
        <p:nvSpPr>
          <p:cNvPr id="9" name="TextBox 8">
            <a:extLst>
              <a:ext uri="{FF2B5EF4-FFF2-40B4-BE49-F238E27FC236}">
                <a16:creationId xmlns:a16="http://schemas.microsoft.com/office/drawing/2014/main" id="{432AA104-645E-6C09-CFFA-1F27BE164217}"/>
              </a:ext>
            </a:extLst>
          </p:cNvPr>
          <p:cNvSpPr txBox="1"/>
          <p:nvPr/>
        </p:nvSpPr>
        <p:spPr>
          <a:xfrm>
            <a:off x="635000" y="1498600"/>
            <a:ext cx="10922000" cy="2400657"/>
          </a:xfrm>
          <a:prstGeom prst="rect">
            <a:avLst/>
          </a:prstGeom>
          <a:noFill/>
        </p:spPr>
        <p:txBody>
          <a:bodyPr vert="horz" rtlCol="0">
            <a:spAutoFit/>
          </a:bodyPr>
          <a:lstStyle/>
          <a:p>
            <a:pPr marL="457200" indent="-457200">
              <a:spcAft>
                <a:spcPts val="600"/>
              </a:spcAft>
              <a:buFont typeface="+mj-lt"/>
              <a:buChar char="•"/>
            </a:pPr>
            <a:r>
              <a:rPr lang="en-US" sz="2000" b="1">
                <a:solidFill>
                  <a:srgbClr val="E7E3D8"/>
                </a:solidFill>
                <a:latin typeface="Calibri" panose="020F0502020204030204" pitchFamily="34" charset="0"/>
              </a:rPr>
              <a:t>Prices move in a fixed step.</a:t>
            </a:r>
            <a:r>
              <a:rPr lang="en-US" sz="2000">
                <a:solidFill>
                  <a:srgbClr val="E7E3D8"/>
                </a:solidFill>
                <a:latin typeface="Calibri" panose="020F0502020204030204" pitchFamily="34" charset="0"/>
              </a:rPr>
              <a:t> A market fixes its lot size, tick size, and tick range at creation; every price is a whole number of ticks, so matching is one multiplication with nothing to round</a:t>
            </a:r>
          </a:p>
          <a:p>
            <a:pPr marL="457200" indent="-457200">
              <a:spcAft>
                <a:spcPts val="600"/>
              </a:spcAft>
              <a:buFont typeface="+mj-lt"/>
              <a:buChar char="•"/>
            </a:pPr>
            <a:r>
              <a:rPr lang="en-US" sz="2000" b="1">
                <a:solidFill>
                  <a:srgbClr val="E7E3D8"/>
                </a:solidFill>
                <a:latin typeface="Calibri" panose="020F0502020204030204" pitchFamily="34" charset="0"/>
              </a:rPr>
              <a:t>A fixed step is a different fraction of the price at every price.</a:t>
            </a:r>
            <a:r>
              <a:rPr lang="en-US" sz="2000">
                <a:solidFill>
                  <a:srgbClr val="E7E3D8"/>
                </a:solidFill>
                <a:latin typeface="Calibri" panose="020F0502020204030204" pitchFamily="34" charset="0"/>
              </a:rPr>
              <a:t> On the example market, 5 bps at 0.02 and 0.06 bps at 1.58</a:t>
            </a:r>
          </a:p>
          <a:p>
            <a:pPr marL="457200" indent="-457200">
              <a:spcAft>
                <a:spcPts val="600"/>
              </a:spcAft>
              <a:buFont typeface="+mj-lt"/>
              <a:buChar char="•"/>
            </a:pPr>
            <a:r>
              <a:rPr lang="en-US" sz="2000" b="1">
                <a:solidFill>
                  <a:srgbClr val="E7E3D8"/>
                </a:solidFill>
                <a:latin typeface="Calibri" panose="020F0502020204030204" pitchFamily="34" charset="0"/>
              </a:rPr>
              <a:t>Both ends hurt.</a:t>
            </a:r>
            <a:r>
              <a:rPr lang="en-US" sz="2000">
                <a:solidFill>
                  <a:srgbClr val="E7E3D8"/>
                </a:solidFill>
                <a:latin typeface="Calibri" panose="020F0502020204030204" pitchFamily="34" charset="0"/>
              </a:rPr>
              <a:t> At low prices the step is too coarse to quote inside the spread. At high prices, padding 1% of depth takes 1,580 level keys, eight times what a transaction may write. Once the price leaves the tick range, the only fix is a new market and a migration</a:t>
            </a:r>
            <a:endParaRPr lang="en-US" sz="2000" dirty="0">
              <a:solidFill>
                <a:srgbClr val="E7E3D8"/>
              </a:solidFill>
              <a:latin typeface="Calibri" panose="020F050202020403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171613"/>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828800" cy="274320"/>
          </a:xfrm>
          <a:prstGeom prst="rect">
            <a:avLst/>
          </a:prstGeom>
          <a:noFill/>
          <a:ln/>
        </p:spPr>
        <p:txBody>
          <a:bodyPr wrap="square" lIns="0" tIns="0" rIns="0" bIns="0" rtlCol="0" anchor="ctr"/>
          <a:lstStyle/>
          <a:p>
            <a:pPr marL="0" indent="0">
              <a:buNone/>
            </a:pPr>
            <a:r>
              <a:rPr lang="en-US" sz="1200">
                <a:solidFill>
                  <a:srgbClr val="9C978A"/>
                </a:solidFill>
                <a:latin typeface="Calibri" pitchFamily="34" charset="0"/>
                <a:ea typeface="Calibri" pitchFamily="34" charset="-122"/>
                <a:cs typeface="Calibri" pitchFamily="34" charset="-120"/>
              </a:rPr>
              <a:t>14</a:t>
            </a:r>
            <a:endParaRPr lang="en-US" sz="1200" dirty="0"/>
          </a:p>
        </p:txBody>
      </p:sp>
      <p:sp>
        <p:nvSpPr>
          <p:cNvPr id="3" name="Text 1"/>
          <p:cNvSpPr txBox="1"/>
          <p:nvPr/>
        </p:nvSpPr>
        <p:spPr>
          <a:xfrm>
            <a:off x="640080" y="704088"/>
            <a:ext cx="10911535" cy="731520"/>
          </a:xfrm>
          <a:prstGeom prst="rect">
            <a:avLst/>
          </a:prstGeom>
          <a:noFill/>
          <a:ln/>
        </p:spPr>
        <p:txBody>
          <a:bodyPr wrap="square" lIns="0" tIns="0" rIns="0" bIns="0" rtlCol="0" anchor="t"/>
          <a:lstStyle/>
          <a:p>
            <a:pPr marL="0" indent="0">
              <a:buNone/>
            </a:pPr>
            <a:r>
              <a:rPr lang="en-US" sz="3400" b="1">
                <a:solidFill>
                  <a:srgbClr val="E7E3D8"/>
                </a:solidFill>
                <a:latin typeface="Cambria" pitchFamily="34" charset="0"/>
                <a:ea typeface="Cambria" pitchFamily="34" charset="-122"/>
                <a:cs typeface="Cambria" pitchFamily="34" charset="-120"/>
              </a:rPr>
              <a:t>Future work: a better tick grid</a:t>
            </a:r>
            <a:endParaRPr lang="en-US" sz="3400" dirty="0"/>
          </a:p>
        </p:txBody>
      </p:sp>
      <p:sp>
        <p:nvSpPr>
          <p:cNvPr id="8" name="Text 5"/>
          <p:cNvSpPr txBox="1"/>
          <p:nvPr/>
        </p:nvSpPr>
        <p:spPr>
          <a:xfrm>
            <a:off x="640080" y="4191000"/>
            <a:ext cx="10911535" cy="365760"/>
          </a:xfrm>
          <a:prstGeom prst="rect">
            <a:avLst/>
          </a:prstGeom>
          <a:noFill/>
          <a:ln/>
        </p:spPr>
        <p:txBody>
          <a:bodyPr wrap="square" lIns="0" tIns="0" rIns="0" bIns="0" rtlCol="0" anchor="ctr"/>
          <a:lstStyle/>
          <a:p>
            <a:pPr marL="0" indent="0">
              <a:buNone/>
            </a:pPr>
            <a:r>
              <a:rPr lang="en-US" sz="1300" dirty="0">
                <a:solidFill>
                  <a:srgbClr val="9C978A"/>
                </a:solidFill>
                <a:latin typeface="Calibri" pitchFamily="34" charset="0"/>
                <a:ea typeface="Calibri" pitchFamily="34" charset="-122"/>
                <a:cs typeface="Calibri" pitchFamily="34" charset="-120"/>
              </a:rPr>
              <a:t>Also on the list: per-market vault sub-accounts so markets sharing a token stop serializing, settle batching, permissionless market creation.</a:t>
            </a:r>
            <a:endParaRPr lang="en-US" sz="1300" dirty="0"/>
          </a:p>
        </p:txBody>
      </p:sp>
      <p:sp>
        <p:nvSpPr>
          <p:cNvPr id="9" name="TextBox 8">
            <a:extLst>
              <a:ext uri="{FF2B5EF4-FFF2-40B4-BE49-F238E27FC236}">
                <a16:creationId xmlns:a16="http://schemas.microsoft.com/office/drawing/2014/main" id="{432AA104-645E-6C09-CFFA-1F27BE164217}"/>
              </a:ext>
            </a:extLst>
          </p:cNvPr>
          <p:cNvSpPr txBox="1"/>
          <p:nvPr/>
        </p:nvSpPr>
        <p:spPr>
          <a:xfrm>
            <a:off x="635000" y="1498600"/>
            <a:ext cx="10922000" cy="1400383"/>
          </a:xfrm>
          <a:prstGeom prst="rect">
            <a:avLst/>
          </a:prstGeom>
          <a:noFill/>
        </p:spPr>
        <p:txBody>
          <a:bodyPr vert="horz" rtlCol="0">
            <a:spAutoFit/>
          </a:bodyPr>
          <a:lstStyle/>
          <a:p>
            <a:pPr marL="457200" indent="-457200">
              <a:spcAft>
                <a:spcPts val="600"/>
              </a:spcAft>
              <a:buFont typeface="+mj-lt"/>
              <a:buChar char="•"/>
            </a:pPr>
            <a:r>
              <a:rPr lang="en-US" sz="2000" b="1" dirty="0">
                <a:solidFill>
                  <a:srgbClr val="E7E3D8"/>
                </a:solidFill>
                <a:latin typeface="Calibri" panose="020F0502020204030204" pitchFamily="34" charset="0"/>
              </a:rPr>
              <a:t>Geometric ticks.</a:t>
            </a:r>
            <a:r>
              <a:rPr lang="en-US" sz="2000" dirty="0">
                <a:solidFill>
                  <a:srgbClr val="E7E3D8"/>
                </a:solidFill>
                <a:latin typeface="Calibri" panose="020F0502020204030204" pitchFamily="34" charset="0"/>
              </a:rPr>
              <a:t> The step is a fixed fraction of the price, so no tick range is needed, but prices are no longer whole numbers of quote units and matching would have to round</a:t>
            </a:r>
          </a:p>
          <a:p>
            <a:pPr marL="457200" indent="-457200">
              <a:spcAft>
                <a:spcPts val="600"/>
              </a:spcAft>
              <a:buFont typeface="+mj-lt"/>
              <a:buChar char="•"/>
            </a:pPr>
            <a:r>
              <a:rPr lang="en-US" sz="2000" b="1" dirty="0">
                <a:solidFill>
                  <a:srgbClr val="E7E3D8"/>
                </a:solidFill>
                <a:latin typeface="Calibri" panose="020F0502020204030204" pitchFamily="34" charset="0"/>
              </a:rPr>
              <a:t>Significant-figure ticks, 1-2-5 tables.</a:t>
            </a:r>
            <a:r>
              <a:rPr lang="en-US" sz="2000" dirty="0">
                <a:solidFill>
                  <a:srgbClr val="E7E3D8"/>
                </a:solidFill>
                <a:latin typeface="Calibri" panose="020F0502020204030204" pitchFamily="34" charset="0"/>
              </a:rPr>
              <a:t> Prices stay whole, the step stays within a fixed fraction of the price, no tick range. What </a:t>
            </a:r>
            <a:r>
              <a:rPr lang="en-US" sz="2000" dirty="0" err="1">
                <a:solidFill>
                  <a:srgbClr val="E7E3D8"/>
                </a:solidFill>
                <a:latin typeface="Calibri" panose="020F0502020204030204" pitchFamily="34" charset="0"/>
              </a:rPr>
              <a:t>Hyperliquid</a:t>
            </a:r>
            <a:r>
              <a:rPr lang="en-US" sz="2000" dirty="0">
                <a:solidFill>
                  <a:srgbClr val="E7E3D8"/>
                </a:solidFill>
                <a:latin typeface="Calibri" panose="020F0502020204030204" pitchFamily="34" charset="0"/>
              </a:rPr>
              <a:t> and traditional exchanges use, and the better candidate</a:t>
            </a:r>
          </a:p>
        </p:txBody>
      </p:sp>
      <p:sp>
        <p:nvSpPr>
          <p:cNvPr id="5" name="TextBox 4">
            <a:extLst>
              <a:ext uri="{FF2B5EF4-FFF2-40B4-BE49-F238E27FC236}">
                <a16:creationId xmlns:a16="http://schemas.microsoft.com/office/drawing/2014/main" id="{6C8BFF58-3EDA-5B82-01A7-90BA245DB8C4}"/>
              </a:ext>
            </a:extLst>
          </p:cNvPr>
          <p:cNvSpPr txBox="1"/>
          <p:nvPr/>
        </p:nvSpPr>
        <p:spPr>
          <a:xfrm>
            <a:off x="635000" y="3238500"/>
            <a:ext cx="10922000" cy="384721"/>
          </a:xfrm>
          <a:prstGeom prst="rect">
            <a:avLst/>
          </a:prstGeom>
          <a:noFill/>
        </p:spPr>
        <p:txBody>
          <a:bodyPr vert="horz" rtlCol="0">
            <a:spAutoFit/>
          </a:bodyPr>
          <a:lstStyle/>
          <a:p>
            <a:r>
              <a:rPr lang="en-US" sz="1900">
                <a:solidFill>
                  <a:srgbClr val="E7E3D8"/>
                </a:solidFill>
                <a:latin typeface="Calibri" panose="020F0502020204030204" pitchFamily="34" charset="0"/>
              </a:rPr>
              <a:t>Try it: </a:t>
            </a:r>
            <a:r>
              <a:rPr lang="en-US" sz="1900" dirty="0" err="1">
                <a:solidFill>
                  <a:srgbClr val="7EA9E0"/>
                </a:solidFill>
                <a:latin typeface="Calibri" panose="020F0502020204030204" pitchFamily="34" charset="0"/>
              </a:rPr>
              <a:t>tomerweller.com</a:t>
            </a:r>
            <a:r>
              <a:rPr lang="en-US" sz="1900" dirty="0">
                <a:solidFill>
                  <a:srgbClr val="7EA9E0"/>
                </a:solidFill>
                <a:latin typeface="Calibri" panose="020F0502020204030204" pitchFamily="34" charset="0"/>
              </a:rPr>
              <a:t>/</a:t>
            </a:r>
            <a:r>
              <a:rPr lang="en-US" sz="1900" dirty="0" err="1">
                <a:solidFill>
                  <a:srgbClr val="7EA9E0"/>
                </a:solidFill>
                <a:latin typeface="Calibri" panose="020F0502020204030204" pitchFamily="34" charset="0"/>
              </a:rPr>
              <a:t>pagebook</a:t>
            </a:r>
            <a:r>
              <a:rPr lang="en-US" sz="1900" dirty="0">
                <a:solidFill>
                  <a:srgbClr val="7EA9E0"/>
                </a:solidFill>
                <a:latin typeface="Calibri" panose="020F0502020204030204" pitchFamily="34" charset="0"/>
              </a:rPr>
              <a:t>/explainer/tick-</a:t>
            </a:r>
            <a:r>
              <a:rPr lang="en-US" sz="1900" dirty="0" err="1">
                <a:solidFill>
                  <a:srgbClr val="7EA9E0"/>
                </a:solidFill>
                <a:latin typeface="Calibri" panose="020F0502020204030204" pitchFamily="34" charset="0"/>
              </a:rPr>
              <a:t>grids.html</a:t>
            </a:r>
            <a:r>
              <a:rPr lang="en-US" sz="1900" dirty="0">
                <a:solidFill>
                  <a:srgbClr val="E7E3D8"/>
                </a:solidFill>
                <a:latin typeface="Calibri" panose="020F0502020204030204" pitchFamily="34" charset="0"/>
              </a:rPr>
              <a:t>, drag the price and watch each grid respond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171613"/>
        </a:solidFill>
        <a:effectLst/>
      </p:bgPr>
    </p:bg>
    <p:spTree>
      <p:nvGrpSpPr>
        <p:cNvPr id="1" name=""/>
        <p:cNvGrpSpPr/>
        <p:nvPr/>
      </p:nvGrpSpPr>
      <p:grpSpPr>
        <a:xfrm>
          <a:off x="0" y="0"/>
          <a:ext cx="0" cy="0"/>
          <a:chOff x="0" y="0"/>
          <a:chExt cx="0" cy="0"/>
        </a:xfrm>
      </p:grpSpPr>
      <p:sp>
        <p:nvSpPr>
          <p:cNvPr id="2" name="Text 0"/>
          <p:cNvSpPr txBox="1"/>
          <p:nvPr/>
        </p:nvSpPr>
        <p:spPr>
          <a:xfrm>
            <a:off x="640080" y="704088"/>
            <a:ext cx="10911535" cy="731520"/>
          </a:xfrm>
          <a:prstGeom prst="rect">
            <a:avLst/>
          </a:prstGeom>
          <a:noFill/>
          <a:ln/>
        </p:spPr>
        <p:txBody>
          <a:bodyPr wrap="square" lIns="0" tIns="0" rIns="0" bIns="0" rtlCol="0" anchor="t"/>
          <a:lstStyle/>
          <a:p>
            <a:pPr marL="0" indent="0">
              <a:buNone/>
            </a:pPr>
            <a:r>
              <a:rPr lang="en-US" sz="3400" b="1" dirty="0">
                <a:solidFill>
                  <a:srgbClr val="E7E3D8"/>
                </a:solidFill>
                <a:latin typeface="Cambria" pitchFamily="34" charset="0"/>
                <a:ea typeface="Cambria" pitchFamily="34" charset="-122"/>
                <a:cs typeface="Cambria" pitchFamily="34" charset="-120"/>
              </a:rPr>
              <a:t>Links</a:t>
            </a:r>
            <a:endParaRPr lang="en-US" sz="3400" dirty="0"/>
          </a:p>
        </p:txBody>
      </p:sp>
      <p:sp>
        <p:nvSpPr>
          <p:cNvPr id="3" name="Text 1"/>
          <p:cNvSpPr txBox="1"/>
          <p:nvPr/>
        </p:nvSpPr>
        <p:spPr>
          <a:xfrm>
            <a:off x="640080" y="1600200"/>
            <a:ext cx="2194560" cy="365760"/>
          </a:xfrm>
          <a:prstGeom prst="rect">
            <a:avLst/>
          </a:prstGeom>
          <a:noFill/>
          <a:ln/>
        </p:spPr>
        <p:txBody>
          <a:bodyPr wrap="square" lIns="0" tIns="0" rIns="0" bIns="0" rtlCol="0" anchor="ctr"/>
          <a:lstStyle/>
          <a:p>
            <a:pPr marL="0" indent="0">
              <a:buNone/>
            </a:pPr>
            <a:r>
              <a:rPr lang="en-US" sz="1800" dirty="0">
                <a:solidFill>
                  <a:srgbClr val="9C978A"/>
                </a:solidFill>
                <a:latin typeface="Calibri" pitchFamily="34" charset="0"/>
                <a:ea typeface="Calibri" pitchFamily="34" charset="-122"/>
                <a:cs typeface="Calibri" pitchFamily="34" charset="-120"/>
              </a:rPr>
              <a:t>Web client</a:t>
            </a:r>
            <a:endParaRPr lang="en-US" sz="1800" dirty="0"/>
          </a:p>
        </p:txBody>
      </p:sp>
      <p:sp>
        <p:nvSpPr>
          <p:cNvPr id="4" name="Text 2">
            <a:hlinkClick r:id="rId3"/>
          </p:cNvPr>
          <p:cNvSpPr txBox="1"/>
          <p:nvPr/>
        </p:nvSpPr>
        <p:spPr>
          <a:xfrm>
            <a:off x="2926080" y="1600200"/>
            <a:ext cx="7315200" cy="365760"/>
          </a:xfrm>
          <a:prstGeom prst="rect">
            <a:avLst/>
          </a:prstGeom>
          <a:noFill/>
          <a:ln/>
        </p:spPr>
        <p:txBody>
          <a:bodyPr wrap="square" lIns="0" tIns="0" rIns="0" bIns="0" rtlCol="0" anchor="ctr"/>
          <a:lstStyle/>
          <a:p>
            <a:pPr marL="0" indent="0">
              <a:buNone/>
            </a:pPr>
            <a:r>
              <a:rPr lang="en-US" sz="1800" u="sng" dirty="0">
                <a:solidFill>
                  <a:srgbClr val="7EA9E0"/>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tomerweller.com/pagebook</a:t>
            </a:r>
            <a:endParaRPr lang="en-US" sz="1800" dirty="0"/>
          </a:p>
        </p:txBody>
      </p:sp>
      <p:sp>
        <p:nvSpPr>
          <p:cNvPr id="5" name="Text 3"/>
          <p:cNvSpPr txBox="1"/>
          <p:nvPr/>
        </p:nvSpPr>
        <p:spPr>
          <a:xfrm>
            <a:off x="640080" y="2057400"/>
            <a:ext cx="2194560" cy="365760"/>
          </a:xfrm>
          <a:prstGeom prst="rect">
            <a:avLst/>
          </a:prstGeom>
          <a:noFill/>
          <a:ln/>
        </p:spPr>
        <p:txBody>
          <a:bodyPr wrap="square" lIns="0" tIns="0" rIns="0" bIns="0" rtlCol="0" anchor="ctr"/>
          <a:lstStyle/>
          <a:p>
            <a:pPr marL="0" indent="0">
              <a:buNone/>
            </a:pPr>
            <a:r>
              <a:rPr lang="en-US" sz="1800" dirty="0">
                <a:solidFill>
                  <a:srgbClr val="9C978A"/>
                </a:solidFill>
                <a:latin typeface="Calibri" pitchFamily="34" charset="0"/>
                <a:ea typeface="Calibri" pitchFamily="34" charset="-122"/>
                <a:cs typeface="Calibri" pitchFamily="34" charset="-120"/>
              </a:rPr>
              <a:t>Explainer</a:t>
            </a:r>
            <a:endParaRPr lang="en-US" sz="1800" dirty="0"/>
          </a:p>
        </p:txBody>
      </p:sp>
      <p:sp>
        <p:nvSpPr>
          <p:cNvPr id="6" name="Text 4">
            <a:hlinkClick r:id="rId4"/>
          </p:cNvPr>
          <p:cNvSpPr txBox="1"/>
          <p:nvPr/>
        </p:nvSpPr>
        <p:spPr>
          <a:xfrm>
            <a:off x="2926080" y="2057400"/>
            <a:ext cx="7315200" cy="365760"/>
          </a:xfrm>
          <a:prstGeom prst="rect">
            <a:avLst/>
          </a:prstGeom>
          <a:noFill/>
          <a:ln/>
        </p:spPr>
        <p:txBody>
          <a:bodyPr wrap="square" lIns="0" tIns="0" rIns="0" bIns="0" rtlCol="0" anchor="ctr"/>
          <a:lstStyle/>
          <a:p>
            <a:pPr marL="0" indent="0">
              <a:buNone/>
            </a:pPr>
            <a:r>
              <a:rPr lang="en-US" sz="1800" u="sng" dirty="0">
                <a:solidFill>
                  <a:srgbClr val="7EA9E0"/>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tomerweller.com/pagebook/explainer</a:t>
            </a:r>
            <a:endParaRPr lang="en-US" sz="1800" dirty="0"/>
          </a:p>
        </p:txBody>
      </p:sp>
      <p:sp>
        <p:nvSpPr>
          <p:cNvPr id="7" name="Text 5"/>
          <p:cNvSpPr txBox="1"/>
          <p:nvPr/>
        </p:nvSpPr>
        <p:spPr>
          <a:xfrm>
            <a:off x="640080" y="2514600"/>
            <a:ext cx="2194560" cy="365760"/>
          </a:xfrm>
          <a:prstGeom prst="rect">
            <a:avLst/>
          </a:prstGeom>
          <a:noFill/>
          <a:ln/>
        </p:spPr>
        <p:txBody>
          <a:bodyPr wrap="square" lIns="0" tIns="0" rIns="0" bIns="0" rtlCol="0" anchor="ctr"/>
          <a:lstStyle/>
          <a:p>
            <a:pPr marL="0" indent="0">
              <a:buNone/>
            </a:pPr>
            <a:r>
              <a:rPr lang="en-US" sz="1800" dirty="0">
                <a:solidFill>
                  <a:srgbClr val="9C978A"/>
                </a:solidFill>
                <a:latin typeface="Calibri" pitchFamily="34" charset="0"/>
                <a:ea typeface="Calibri" pitchFamily="34" charset="-122"/>
                <a:cs typeface="Calibri" pitchFamily="34" charset="-120"/>
              </a:rPr>
              <a:t>Repository</a:t>
            </a:r>
            <a:endParaRPr lang="en-US" sz="1800" dirty="0"/>
          </a:p>
        </p:txBody>
      </p:sp>
      <p:sp>
        <p:nvSpPr>
          <p:cNvPr id="8" name="Text 6">
            <a:hlinkClick r:id="rId5"/>
          </p:cNvPr>
          <p:cNvSpPr txBox="1"/>
          <p:nvPr/>
        </p:nvSpPr>
        <p:spPr>
          <a:xfrm>
            <a:off x="2926080" y="2514600"/>
            <a:ext cx="7315200" cy="365760"/>
          </a:xfrm>
          <a:prstGeom prst="rect">
            <a:avLst/>
          </a:prstGeom>
          <a:noFill/>
          <a:ln/>
        </p:spPr>
        <p:txBody>
          <a:bodyPr wrap="square" lIns="0" tIns="0" rIns="0" bIns="0" rtlCol="0" anchor="ctr"/>
          <a:lstStyle/>
          <a:p>
            <a:pPr marL="0" indent="0">
              <a:buNone/>
            </a:pPr>
            <a:r>
              <a:rPr lang="en-US" sz="1800" u="sng" dirty="0">
                <a:solidFill>
                  <a:srgbClr val="7EA9E0"/>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github.com/tomerweller/pagebook</a:t>
            </a:r>
            <a:endParaRPr lang="en-US" sz="1800" dirty="0"/>
          </a:p>
        </p:txBody>
      </p:sp>
      <p:sp>
        <p:nvSpPr>
          <p:cNvPr id="9" name="Text 7"/>
          <p:cNvSpPr txBox="1"/>
          <p:nvPr/>
        </p:nvSpPr>
        <p:spPr>
          <a:xfrm>
            <a:off x="640080" y="2971800"/>
            <a:ext cx="2194560" cy="365760"/>
          </a:xfrm>
          <a:prstGeom prst="rect">
            <a:avLst/>
          </a:prstGeom>
          <a:noFill/>
          <a:ln/>
        </p:spPr>
        <p:txBody>
          <a:bodyPr wrap="square" lIns="0" tIns="0" rIns="0" bIns="0" rtlCol="0" anchor="ctr"/>
          <a:lstStyle/>
          <a:p>
            <a:pPr marL="0" indent="0">
              <a:buNone/>
            </a:pPr>
            <a:r>
              <a:rPr lang="en-US" sz="1800" dirty="0">
                <a:solidFill>
                  <a:srgbClr val="9C978A"/>
                </a:solidFill>
                <a:latin typeface="Calibri" pitchFamily="34" charset="0"/>
                <a:ea typeface="Calibri" pitchFamily="34" charset="-122"/>
                <a:cs typeface="Calibri" pitchFamily="34" charset="-120"/>
              </a:rPr>
              <a:t>Architecture</a:t>
            </a:r>
            <a:endParaRPr lang="en-US" sz="1800" dirty="0"/>
          </a:p>
        </p:txBody>
      </p:sp>
      <p:sp>
        <p:nvSpPr>
          <p:cNvPr id="10" name="Text 8">
            <a:hlinkClick r:id="rId6"/>
          </p:cNvPr>
          <p:cNvSpPr txBox="1"/>
          <p:nvPr/>
        </p:nvSpPr>
        <p:spPr>
          <a:xfrm>
            <a:off x="2926080" y="2971800"/>
            <a:ext cx="7315200" cy="365760"/>
          </a:xfrm>
          <a:prstGeom prst="rect">
            <a:avLst/>
          </a:prstGeom>
          <a:noFill/>
          <a:ln/>
        </p:spPr>
        <p:txBody>
          <a:bodyPr wrap="square" lIns="0" tIns="0" rIns="0" bIns="0" rtlCol="0" anchor="ctr"/>
          <a:lstStyle/>
          <a:p>
            <a:pPr marL="0" indent="0">
              <a:buNone/>
            </a:pPr>
            <a:r>
              <a:rPr lang="en-US" sz="1800" u="sng" dirty="0">
                <a:solidFill>
                  <a:srgbClr val="7EA9E0"/>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docs/04-architecture.md</a:t>
            </a:r>
            <a:endParaRPr lang="en-US" sz="1800" dirty="0"/>
          </a:p>
        </p:txBody>
      </p:sp>
      <p:sp>
        <p:nvSpPr>
          <p:cNvPr id="11" name="Text 9"/>
          <p:cNvSpPr txBox="1"/>
          <p:nvPr/>
        </p:nvSpPr>
        <p:spPr>
          <a:xfrm>
            <a:off x="640080" y="3429000"/>
            <a:ext cx="2194560" cy="365760"/>
          </a:xfrm>
          <a:prstGeom prst="rect">
            <a:avLst/>
          </a:prstGeom>
          <a:noFill/>
          <a:ln/>
        </p:spPr>
        <p:txBody>
          <a:bodyPr wrap="square" lIns="0" tIns="0" rIns="0" bIns="0" rtlCol="0" anchor="ctr"/>
          <a:lstStyle/>
          <a:p>
            <a:pPr marL="0" indent="0">
              <a:buNone/>
            </a:pPr>
            <a:r>
              <a:rPr lang="en-US" sz="1800" dirty="0">
                <a:solidFill>
                  <a:srgbClr val="9C978A"/>
                </a:solidFill>
                <a:latin typeface="Calibri" pitchFamily="34" charset="0"/>
                <a:ea typeface="Calibri" pitchFamily="34" charset="-122"/>
                <a:cs typeface="Calibri" pitchFamily="34" charset="-120"/>
              </a:rPr>
              <a:t>Measurements</a:t>
            </a:r>
            <a:endParaRPr lang="en-US" sz="1800" dirty="0"/>
          </a:p>
        </p:txBody>
      </p:sp>
      <p:sp>
        <p:nvSpPr>
          <p:cNvPr id="12" name="Text 10">
            <a:hlinkClick r:id="rId7"/>
          </p:cNvPr>
          <p:cNvSpPr txBox="1"/>
          <p:nvPr/>
        </p:nvSpPr>
        <p:spPr>
          <a:xfrm>
            <a:off x="2926080" y="3429000"/>
            <a:ext cx="7315200" cy="365760"/>
          </a:xfrm>
          <a:prstGeom prst="rect">
            <a:avLst/>
          </a:prstGeom>
          <a:noFill/>
          <a:ln/>
        </p:spPr>
        <p:txBody>
          <a:bodyPr wrap="square" lIns="0" tIns="0" rIns="0" bIns="0" rtlCol="0" anchor="ctr"/>
          <a:lstStyle/>
          <a:p>
            <a:pPr marL="0" indent="0">
              <a:buNone/>
            </a:pPr>
            <a:r>
              <a:rPr lang="en-US" sz="1800" u="sng" dirty="0">
                <a:solidFill>
                  <a:srgbClr val="7EA9E0"/>
                </a:solidFill>
                <a:latin typeface="Calibri" pitchFamily="34" charset="0"/>
                <a:ea typeface="Calibri" pitchFamily="34" charset="-122"/>
                <a:cs typeface="Calibri" pitchFamily="34" charset="-120"/>
                <a:hlinkClick r:id="rId7">
                  <a:extLst>
                    <a:ext uri="{A12FA001-AC4F-418D-AE19-62706E023703}">
                      <ahyp:hlinkClr xmlns:ahyp="http://schemas.microsoft.com/office/drawing/2018/hyperlinkcolor" val="tx"/>
                    </a:ext>
                  </a:extLst>
                </a:hlinkClick>
              </a:rPr>
              <a:t>docs/09-resource-utilization.md</a:t>
            </a:r>
            <a:endParaRPr lang="en-US" sz="1800" dirty="0"/>
          </a:p>
        </p:txBody>
      </p:sp>
      <p:sp>
        <p:nvSpPr>
          <p:cNvPr id="13" name="Text 11"/>
          <p:cNvSpPr txBox="1"/>
          <p:nvPr/>
        </p:nvSpPr>
        <p:spPr>
          <a:xfrm>
            <a:off x="640080" y="3886200"/>
            <a:ext cx="2194560" cy="365760"/>
          </a:xfrm>
          <a:prstGeom prst="rect">
            <a:avLst/>
          </a:prstGeom>
          <a:noFill/>
          <a:ln/>
        </p:spPr>
        <p:txBody>
          <a:bodyPr wrap="square" lIns="0" tIns="0" rIns="0" bIns="0" rtlCol="0" anchor="ctr"/>
          <a:lstStyle/>
          <a:p>
            <a:pPr marL="0" indent="0">
              <a:buNone/>
            </a:pPr>
            <a:r>
              <a:rPr lang="en-US" sz="1800" dirty="0">
                <a:solidFill>
                  <a:srgbClr val="9C978A"/>
                </a:solidFill>
                <a:latin typeface="Calibri" pitchFamily="34" charset="0"/>
                <a:ea typeface="Calibri" pitchFamily="34" charset="-122"/>
                <a:cs typeface="Calibri" pitchFamily="34" charset="-120"/>
              </a:rPr>
              <a:t>These slides</a:t>
            </a:r>
            <a:endParaRPr lang="en-US" sz="1800" dirty="0"/>
          </a:p>
        </p:txBody>
      </p:sp>
      <p:sp>
        <p:nvSpPr>
          <p:cNvPr id="14" name="Text 12">
            <a:hlinkClick r:id="rId8"/>
          </p:cNvPr>
          <p:cNvSpPr txBox="1"/>
          <p:nvPr/>
        </p:nvSpPr>
        <p:spPr>
          <a:xfrm>
            <a:off x="2926080" y="3886200"/>
            <a:ext cx="7315200" cy="365760"/>
          </a:xfrm>
          <a:prstGeom prst="rect">
            <a:avLst/>
          </a:prstGeom>
          <a:noFill/>
          <a:ln/>
        </p:spPr>
        <p:txBody>
          <a:bodyPr wrap="square" lIns="0" tIns="0" rIns="0" bIns="0" rtlCol="0" anchor="ctr"/>
          <a:lstStyle/>
          <a:p>
            <a:pPr marL="0" indent="0">
              <a:buNone/>
            </a:pPr>
            <a:r>
              <a:rPr lang="en-US" sz="1800" u="sng" dirty="0">
                <a:solidFill>
                  <a:srgbClr val="7EA9E0"/>
                </a:solidFill>
                <a:latin typeface="Calibri" pitchFamily="34" charset="0"/>
                <a:ea typeface="Calibri" pitchFamily="34" charset="-122"/>
                <a:cs typeface="Calibri" pitchFamily="34" charset="-120"/>
                <a:hlinkClick r:id="rId8">
                  <a:extLst>
                    <a:ext uri="{A12FA001-AC4F-418D-AE19-62706E023703}">
                      <ahyp:hlinkClr xmlns:ahyp="http://schemas.microsoft.com/office/drawing/2018/hyperlinkcolor" val="tx"/>
                    </a:ext>
                  </a:extLst>
                </a:hlinkClick>
              </a:rPr>
              <a:t>tomerweller.com/pagebook/talk</a:t>
            </a:r>
            <a:endParaRPr lang="en-US" sz="1800" dirty="0"/>
          </a:p>
        </p:txBody>
      </p:sp>
      <p:sp>
        <p:nvSpPr>
          <p:cNvPr id="15" name="Text 13"/>
          <p:cNvSpPr txBox="1"/>
          <p:nvPr/>
        </p:nvSpPr>
        <p:spPr>
          <a:xfrm>
            <a:off x="640080" y="5852160"/>
            <a:ext cx="10911535" cy="365760"/>
          </a:xfrm>
          <a:prstGeom prst="rect">
            <a:avLst/>
          </a:prstGeom>
          <a:noFill/>
          <a:ln/>
        </p:spPr>
        <p:txBody>
          <a:bodyPr wrap="square" lIns="0" tIns="0" rIns="0" bIns="0" rtlCol="0" anchor="ctr"/>
          <a:lstStyle/>
          <a:p>
            <a:pPr marL="0" indent="0">
              <a:buNone/>
            </a:pPr>
            <a:r>
              <a:rPr lang="en-US" sz="1300" dirty="0">
                <a:solidFill>
                  <a:srgbClr val="9C978A"/>
                </a:solidFill>
                <a:latin typeface="Calibri" pitchFamily="34" charset="0"/>
                <a:ea typeface="Calibri" pitchFamily="34" charset="-122"/>
                <a:cs typeface="Calibri" pitchFamily="34" charset="-120"/>
              </a:rPr>
              <a:t>PageBook is an experiment. Do not deploy it with real funds.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27A413E-C9BA-B147-9839-04AC3EC1F6FB}">
  <we:reference id="wa200010725" version="1.0.0.1" store="en-US" storeType="OMEX"/>
  <we:alternateReferences>
    <we:reference id="WA200010725" version="1.0.0.1" store="WA200010725" storeType="OMEX"/>
  </we:alternateReferences>
  <we:properties>
    <we:property name="claude.fileId" value="&quot;a6bdb684-33fb-4691-bd3c-8a18e89b8f9b&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645</TotalTime>
  <Words>4485</Words>
  <Application>Microsoft Macintosh PowerPoint</Application>
  <PresentationFormat>Widescreen</PresentationFormat>
  <Paragraphs>172</Paragraphs>
  <Slides>17</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PageBook: an order book on Soroban</dc:title>
  <dc:subject>PptxGenJS Presentation</dc:subject>
  <dc:creator>Tomer Weller</dc:creator>
  <cp:lastModifiedBy>Tomer Weller</cp:lastModifiedBy>
  <cp:revision>11</cp:revision>
  <dcterms:created xsi:type="dcterms:W3CDTF">2026-09-24T19:00:52Z</dcterms:created>
  <dcterms:modified xsi:type="dcterms:W3CDTF">2026-09-25T05:46:57Z</dcterms:modified>
</cp:coreProperties>
</file>